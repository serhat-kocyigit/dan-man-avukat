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258" r:id="rId3"/>
    <p:sldId id="259" r:id="rId4"/>
    <p:sldId id="260" r:id="rId5"/>
    <p:sldId id="284" r:id="rId6"/>
    <p:sldId id="285" r:id="rId7"/>
    <p:sldId id="261" r:id="rId8"/>
    <p:sldId id="262" r:id="rId9"/>
    <p:sldId id="263" r:id="rId10"/>
    <p:sldId id="265" r:id="rId11"/>
    <p:sldId id="266" r:id="rId12"/>
    <p:sldId id="286" r:id="rId13"/>
    <p:sldId id="290" r:id="rId14"/>
    <p:sldId id="287" r:id="rId15"/>
    <p:sldId id="288" r:id="rId16"/>
    <p:sldId id="289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91" r:id="rId30"/>
    <p:sldId id="292" r:id="rId31"/>
    <p:sldId id="293" r:id="rId32"/>
    <p:sldId id="294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20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2FB06-FB0B-4A14-ACAB-BE5896EE7ACD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57415-0E59-4DD4-BB0B-80FAA52A40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327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</p:spPr>
        <p:txBody>
          <a:bodyPr/>
          <a:lstStyle/>
          <a:p>
            <a:endParaRPr lang="tr-TR" smtClean="0">
              <a:latin typeface="Arial" pitchFamily="34" charset="0"/>
              <a:ea typeface="Cordia New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859351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887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451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774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236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953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616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494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854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76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82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5242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Başlık ve Tab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7485" y="273050"/>
            <a:ext cx="9958916" cy="48895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Tablo Yer Tutucusu"/>
          <p:cNvSpPr>
            <a:spLocks noGrp="1"/>
          </p:cNvSpPr>
          <p:nvPr>
            <p:ph type="tbl" idx="1"/>
          </p:nvPr>
        </p:nvSpPr>
        <p:spPr>
          <a:xfrm>
            <a:off x="609600" y="990600"/>
            <a:ext cx="11176000" cy="5257800"/>
          </a:xfrm>
        </p:spPr>
        <p:txBody>
          <a:bodyPr/>
          <a:lstStyle/>
          <a:p>
            <a:pPr lvl="0"/>
            <a:endParaRPr lang="tr-TR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67318" y="6461125"/>
            <a:ext cx="10033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2301373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AFEB3-DA45-4C5F-96A3-33EB387B8F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5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EE349-47C5-45FA-9439-0C46CE4B4572}" type="datetimeFigureOut">
              <a:rPr lang="tr-TR" smtClean="0"/>
              <a:t>20.11.2024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C962D-2523-4981-9561-CDAB18A2593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289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dirty="0" err="1" smtClean="0"/>
              <a:t>Giriş</a:t>
            </a:r>
            <a:endParaRPr lang="en-US" dirty="0" smtClean="0"/>
          </a:p>
          <a:p>
            <a:pPr marL="533400" indent="-533400">
              <a:buFontTx/>
              <a:buAutoNum type="arabicPeriod"/>
            </a:pPr>
            <a:r>
              <a:rPr lang="tr-TR" dirty="0" smtClean="0"/>
              <a:t>Sözcüksel Analiz (</a:t>
            </a:r>
            <a:r>
              <a:rPr lang="en-US" dirty="0" smtClean="0"/>
              <a:t>Lexical Analysis</a:t>
            </a:r>
            <a:r>
              <a:rPr lang="tr-TR" dirty="0" smtClean="0"/>
              <a:t>)</a:t>
            </a:r>
            <a:endParaRPr lang="en-US" dirty="0" smtClean="0"/>
          </a:p>
          <a:p>
            <a:pPr marL="533400" indent="-533400">
              <a:buFontTx/>
              <a:buAutoNum type="arabicPeriod"/>
            </a:pPr>
            <a:r>
              <a:rPr lang="tr-TR" dirty="0" smtClean="0"/>
              <a:t>Ayrıştırma (</a:t>
            </a:r>
            <a:r>
              <a:rPr lang="en-US" dirty="0" smtClean="0"/>
              <a:t>Parsing</a:t>
            </a:r>
            <a:r>
              <a:rPr lang="tr-TR" dirty="0" smtClean="0"/>
              <a:t>)</a:t>
            </a:r>
            <a:r>
              <a:rPr lang="en-US" dirty="0" smtClean="0"/>
              <a:t> Problem</a:t>
            </a:r>
            <a:r>
              <a:rPr lang="tr-TR" dirty="0" smtClean="0"/>
              <a:t>i</a:t>
            </a:r>
            <a:endParaRPr lang="en-US" dirty="0" smtClean="0"/>
          </a:p>
          <a:p>
            <a:pPr marL="533400" indent="-533400">
              <a:buFontTx/>
              <a:buAutoNum type="arabicPeriod"/>
            </a:pPr>
            <a:r>
              <a:rPr lang="tr-TR" dirty="0" err="1" smtClean="0"/>
              <a:t>Özyineli</a:t>
            </a:r>
            <a:r>
              <a:rPr lang="tr-TR" dirty="0" smtClean="0"/>
              <a:t>-Azalan Ayrıştırma (</a:t>
            </a:r>
            <a:r>
              <a:rPr lang="en-US" dirty="0" smtClean="0"/>
              <a:t>Recursive-Descent Parsing</a:t>
            </a:r>
            <a:r>
              <a:rPr lang="tr-TR" dirty="0" smtClean="0"/>
              <a:t>)</a:t>
            </a:r>
            <a:endParaRPr lang="en-US" dirty="0" smtClean="0"/>
          </a:p>
          <a:p>
            <a:pPr marL="533400" indent="-533400">
              <a:buFontTx/>
              <a:buAutoNum type="arabicPeriod"/>
            </a:pPr>
            <a:r>
              <a:rPr lang="tr-TR" dirty="0" smtClean="0"/>
              <a:t>A</a:t>
            </a:r>
            <a:r>
              <a:rPr lang="en-US" dirty="0" err="1" smtClean="0"/>
              <a:t>şağıdan</a:t>
            </a:r>
            <a:r>
              <a:rPr lang="tr-TR" dirty="0" smtClean="0"/>
              <a:t>-Y</a:t>
            </a:r>
            <a:r>
              <a:rPr lang="en-US" dirty="0" err="1" smtClean="0"/>
              <a:t>ukarıya</a:t>
            </a:r>
            <a:r>
              <a:rPr lang="en-US" dirty="0" smtClean="0"/>
              <a:t> </a:t>
            </a:r>
            <a:r>
              <a:rPr lang="tr-TR" dirty="0" smtClean="0"/>
              <a:t>A</a:t>
            </a:r>
            <a:r>
              <a:rPr lang="en-US" dirty="0" err="1" smtClean="0"/>
              <a:t>yrıştırma</a:t>
            </a:r>
            <a:r>
              <a:rPr lang="en-US" dirty="0" smtClean="0"/>
              <a:t> </a:t>
            </a:r>
            <a:r>
              <a:rPr lang="tr-TR" dirty="0" smtClean="0"/>
              <a:t>(</a:t>
            </a:r>
            <a:r>
              <a:rPr lang="en-US" dirty="0" smtClean="0"/>
              <a:t>Bottom-Up Parsing</a:t>
            </a:r>
            <a:r>
              <a:rPr lang="tr-TR" dirty="0" smtClean="0"/>
              <a:t>)</a:t>
            </a:r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595A291-3466-4DBC-B89E-18425817FC57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03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Giriş</a:t>
            </a:r>
            <a:endParaRPr lang="en-US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tr-TR" dirty="0"/>
              <a:t>Sözdizimi analizörü bir derleyicinin kalbidir, çünkü anlamsal analizci ve ara kod üreteci de dahil olmak üzere birkaç önemli bileşen sözdizimi analizörünün eylemleri tarafından yönlendirilir</a:t>
            </a:r>
          </a:p>
          <a:p>
            <a:pPr algn="just"/>
            <a:r>
              <a:rPr lang="tr-TR" dirty="0" smtClean="0"/>
              <a:t>Sözdizimi </a:t>
            </a:r>
            <a:r>
              <a:rPr lang="tr-TR" dirty="0"/>
              <a:t>analizörleri doğrudan önceki bölümde işlediğimiz gramerlere dayanır</a:t>
            </a:r>
          </a:p>
          <a:p>
            <a:pPr algn="just"/>
            <a:r>
              <a:rPr lang="tr-TR" dirty="0" smtClean="0"/>
              <a:t>Birinci </a:t>
            </a:r>
            <a:r>
              <a:rPr lang="tr-TR" dirty="0"/>
              <a:t>hafta anlattığımız derleyici, yorumlayıcı ve </a:t>
            </a:r>
            <a:r>
              <a:rPr lang="tr-TR" dirty="0" err="1"/>
              <a:t>hibrit</a:t>
            </a:r>
            <a:r>
              <a:rPr lang="tr-TR" dirty="0"/>
              <a:t> sistemlerin üçünde de </a:t>
            </a:r>
            <a:r>
              <a:rPr lang="tr-TR" dirty="0" err="1"/>
              <a:t>sözcüksel</a:t>
            </a:r>
            <a:r>
              <a:rPr lang="tr-TR" dirty="0"/>
              <a:t> ve </a:t>
            </a:r>
            <a:r>
              <a:rPr lang="tr-TR" dirty="0" err="1"/>
              <a:t>sözdizim</a:t>
            </a:r>
            <a:r>
              <a:rPr lang="tr-TR" dirty="0"/>
              <a:t> analizcileri kullanılmaktadır.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F25ACB-8351-4CA4-BEBA-5512A6EB3C69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9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Giriş</a:t>
            </a:r>
            <a:r>
              <a:rPr lang="en-US" dirty="0" smtClean="0"/>
              <a:t> (</a:t>
            </a:r>
            <a:r>
              <a:rPr lang="en-US" dirty="0" err="1" smtClean="0"/>
              <a:t>Devamı</a:t>
            </a:r>
            <a:r>
              <a:rPr lang="en-US" dirty="0" smtClean="0"/>
              <a:t>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tr-TR" dirty="0"/>
              <a:t>Dil(</a:t>
            </a:r>
            <a:r>
              <a:rPr lang="tr-TR" dirty="0" err="1"/>
              <a:t>language</a:t>
            </a:r>
            <a:r>
              <a:rPr lang="tr-TR" dirty="0"/>
              <a:t>) uygulama sistemleri, belirli uygulama yaklaşımına aldırmadan kaynak kodu (</a:t>
            </a:r>
            <a:r>
              <a:rPr lang="tr-TR" dirty="0" err="1"/>
              <a:t>source</a:t>
            </a:r>
            <a:r>
              <a:rPr lang="tr-TR" dirty="0"/>
              <a:t> </a:t>
            </a:r>
            <a:r>
              <a:rPr lang="tr-TR" dirty="0" err="1"/>
              <a:t>code</a:t>
            </a:r>
            <a:r>
              <a:rPr lang="tr-TR" dirty="0"/>
              <a:t>) analiz etmelidir. (</a:t>
            </a:r>
            <a:r>
              <a:rPr lang="tr-TR" dirty="0" err="1"/>
              <a:t>Regular</a:t>
            </a:r>
            <a:r>
              <a:rPr lang="tr-TR" dirty="0"/>
              <a:t> </a:t>
            </a:r>
            <a:r>
              <a:rPr lang="tr-TR" dirty="0" err="1"/>
              <a:t>expressions</a:t>
            </a:r>
            <a:r>
              <a:rPr lang="tr-TR" dirty="0"/>
              <a:t>)</a:t>
            </a:r>
          </a:p>
          <a:p>
            <a:pPr algn="just"/>
            <a:r>
              <a:rPr lang="tr-TR" dirty="0" smtClean="0"/>
              <a:t>Hemen </a:t>
            </a:r>
            <a:r>
              <a:rPr lang="tr-TR" dirty="0"/>
              <a:t>hemen bütün </a:t>
            </a:r>
            <a:r>
              <a:rPr lang="tr-TR" dirty="0" err="1"/>
              <a:t>sözdizim</a:t>
            </a:r>
            <a:r>
              <a:rPr lang="tr-TR" dirty="0"/>
              <a:t> analizörleri kaynak kodun sözdiziminin biçimsel tanımlamasına dayalıdır (BNF)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AA9682-8901-44E0-A352-A9F625A7E393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23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Giriş</a:t>
            </a:r>
            <a:r>
              <a:rPr lang="en-US" dirty="0" smtClean="0"/>
              <a:t> (</a:t>
            </a:r>
            <a:r>
              <a:rPr lang="en-US" dirty="0" err="1" smtClean="0"/>
              <a:t>Devamı</a:t>
            </a:r>
            <a:r>
              <a:rPr lang="en-US" dirty="0" smtClean="0"/>
              <a:t>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tr-TR" dirty="0"/>
              <a:t>Bir dil işlemcisinin (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processor</a:t>
            </a:r>
            <a:r>
              <a:rPr lang="tr-TR" dirty="0"/>
              <a:t>) </a:t>
            </a:r>
            <a:r>
              <a:rPr lang="tr-TR" dirty="0" err="1"/>
              <a:t>sözdizim</a:t>
            </a:r>
            <a:r>
              <a:rPr lang="tr-TR" dirty="0"/>
              <a:t> (</a:t>
            </a:r>
            <a:r>
              <a:rPr lang="tr-TR" dirty="0" err="1" smtClean="0"/>
              <a:t>syntax</a:t>
            </a:r>
            <a:r>
              <a:rPr lang="tr-TR" dirty="0" smtClean="0"/>
              <a:t>) analizi </a:t>
            </a:r>
            <a:r>
              <a:rPr lang="tr-TR" dirty="0"/>
              <a:t>bölümü genellikle iki kısımdan oluşur:</a:t>
            </a:r>
          </a:p>
          <a:p>
            <a:pPr lvl="0" algn="just"/>
            <a:r>
              <a:rPr lang="tr-TR" dirty="0"/>
              <a:t>Bir düşük-düzeyli (</a:t>
            </a:r>
            <a:r>
              <a:rPr lang="tr-TR" dirty="0" err="1"/>
              <a:t>low-level</a:t>
            </a:r>
            <a:r>
              <a:rPr lang="tr-TR" dirty="0"/>
              <a:t>) kısım: </a:t>
            </a:r>
            <a:r>
              <a:rPr lang="tr-TR" dirty="0" err="1"/>
              <a:t>sözcüksel</a:t>
            </a:r>
            <a:r>
              <a:rPr lang="tr-TR" dirty="0"/>
              <a:t> analizörü (</a:t>
            </a:r>
            <a:r>
              <a:rPr lang="tr-TR" dirty="0" err="1"/>
              <a:t>lexical</a:t>
            </a:r>
            <a:r>
              <a:rPr lang="tr-TR" dirty="0"/>
              <a:t> </a:t>
            </a:r>
            <a:r>
              <a:rPr lang="tr-TR" dirty="0" err="1"/>
              <a:t>analyzer</a:t>
            </a:r>
            <a:r>
              <a:rPr lang="tr-TR" dirty="0"/>
              <a:t>), matematiksel olarak, kurallı bir gramere (</a:t>
            </a:r>
            <a:r>
              <a:rPr lang="tr-TR" dirty="0" err="1"/>
              <a:t>regular</a:t>
            </a:r>
            <a:r>
              <a:rPr lang="tr-TR" dirty="0"/>
              <a:t> </a:t>
            </a:r>
            <a:r>
              <a:rPr lang="tr-TR" dirty="0" err="1"/>
              <a:t>grammar</a:t>
            </a:r>
            <a:r>
              <a:rPr lang="tr-TR" dirty="0"/>
              <a:t>) dayalı bir sonlu otomasyon (</a:t>
            </a:r>
            <a:r>
              <a:rPr lang="tr-TR" dirty="0" err="1"/>
              <a:t>finite</a:t>
            </a:r>
            <a:r>
              <a:rPr lang="tr-TR" dirty="0"/>
              <a:t> </a:t>
            </a:r>
            <a:r>
              <a:rPr lang="tr-TR" dirty="0" err="1"/>
              <a:t>automaton</a:t>
            </a:r>
            <a:r>
              <a:rPr lang="tr-TR" dirty="0"/>
              <a:t>)</a:t>
            </a:r>
          </a:p>
          <a:p>
            <a:pPr lvl="0" algn="just"/>
            <a:r>
              <a:rPr lang="tr-TR" dirty="0"/>
              <a:t>Bir yüksek-düzeyli (</a:t>
            </a:r>
            <a:r>
              <a:rPr lang="tr-TR" dirty="0" err="1"/>
              <a:t>high-level</a:t>
            </a:r>
            <a:r>
              <a:rPr lang="tr-TR" dirty="0"/>
              <a:t>) kısım, </a:t>
            </a:r>
            <a:r>
              <a:rPr lang="tr-TR" dirty="0" err="1"/>
              <a:t>sözdizim</a:t>
            </a:r>
            <a:r>
              <a:rPr lang="tr-TR" dirty="0"/>
              <a:t> analizörü (</a:t>
            </a:r>
            <a:r>
              <a:rPr lang="tr-TR" dirty="0" err="1"/>
              <a:t>syntax</a:t>
            </a:r>
            <a:r>
              <a:rPr lang="tr-TR" dirty="0"/>
              <a:t> </a:t>
            </a:r>
            <a:r>
              <a:rPr lang="tr-TR" dirty="0" err="1"/>
              <a:t>analyzer</a:t>
            </a:r>
            <a:r>
              <a:rPr lang="tr-TR" dirty="0"/>
              <a:t>), veya ayrıştırıcı (</a:t>
            </a:r>
            <a:r>
              <a:rPr lang="tr-TR" dirty="0" err="1"/>
              <a:t>parser</a:t>
            </a:r>
            <a:r>
              <a:rPr lang="tr-TR" dirty="0"/>
              <a:t>)(matematiksel olarak, bağlamdan bağımsız gramere (</a:t>
            </a:r>
            <a:r>
              <a:rPr lang="tr-TR" dirty="0" err="1"/>
              <a:t>context-free</a:t>
            </a:r>
            <a:r>
              <a:rPr lang="tr-TR" dirty="0"/>
              <a:t> </a:t>
            </a:r>
            <a:r>
              <a:rPr lang="tr-TR" dirty="0" err="1"/>
              <a:t>grammar</a:t>
            </a:r>
            <a:r>
              <a:rPr lang="tr-TR" dirty="0"/>
              <a:t>) dayalı bir aşağı-itme otomasyonu (</a:t>
            </a:r>
            <a:r>
              <a:rPr lang="tr-TR" dirty="0" err="1"/>
              <a:t>push-down</a:t>
            </a:r>
            <a:r>
              <a:rPr lang="tr-TR" dirty="0"/>
              <a:t> </a:t>
            </a:r>
            <a:r>
              <a:rPr lang="tr-TR" dirty="0" err="1"/>
              <a:t>automaton</a:t>
            </a:r>
            <a:r>
              <a:rPr lang="tr-TR" dirty="0"/>
              <a:t>), veya BNF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73010C-3E91-4A3A-94ED-0D7ED644AD38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18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Sözcük analizörü isimler ve sayısal </a:t>
            </a:r>
            <a:r>
              <a:rPr lang="tr-TR" dirty="0" err="1" smtClean="0"/>
              <a:t>literaller</a:t>
            </a:r>
            <a:r>
              <a:rPr lang="tr-TR" dirty="0" smtClean="0"/>
              <a:t> gibi küçük ölçekli dil yapılarıyla ilgilenir</a:t>
            </a:r>
          </a:p>
          <a:p>
            <a:r>
              <a:rPr lang="tr-TR" dirty="0" smtClean="0"/>
              <a:t>Sözdizimi analizörü, </a:t>
            </a:r>
            <a:r>
              <a:rPr lang="tr-TR" dirty="0" err="1" smtClean="0"/>
              <a:t>statement</a:t>
            </a:r>
            <a:r>
              <a:rPr lang="tr-TR" dirty="0" smtClean="0"/>
              <a:t> ve bloklar gibi büyük ölçekli yapıları ele alır.</a:t>
            </a:r>
          </a:p>
          <a:p>
            <a:endParaRPr lang="tr-TR" dirty="0"/>
          </a:p>
        </p:txBody>
      </p:sp>
      <p:pic>
        <p:nvPicPr>
          <p:cNvPr id="4" name="image17.jpeg" descr="Token passing in compil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783" y="3834239"/>
            <a:ext cx="3730210" cy="156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6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Sözdizimini tanımlamak için BNF kullanmanın avantajı:</a:t>
            </a:r>
          </a:p>
          <a:p>
            <a:pPr lvl="0"/>
            <a:r>
              <a:rPr lang="tr-TR" dirty="0"/>
              <a:t>Net ve özlü bir sözdizimi tanımı (</a:t>
            </a:r>
            <a:r>
              <a:rPr lang="tr-TR" dirty="0" err="1"/>
              <a:t>syntax</a:t>
            </a:r>
            <a:r>
              <a:rPr lang="tr-TR" dirty="0"/>
              <a:t> </a:t>
            </a:r>
            <a:r>
              <a:rPr lang="tr-TR" dirty="0" err="1"/>
              <a:t>description</a:t>
            </a:r>
            <a:r>
              <a:rPr lang="tr-TR" dirty="0"/>
              <a:t>) sağlar</a:t>
            </a:r>
          </a:p>
          <a:p>
            <a:pPr lvl="0"/>
            <a:r>
              <a:rPr lang="tr-TR" dirty="0"/>
              <a:t>Ayrıştırıcı (</a:t>
            </a:r>
            <a:r>
              <a:rPr lang="tr-TR" dirty="0" err="1"/>
              <a:t>parser</a:t>
            </a:r>
            <a:r>
              <a:rPr lang="tr-TR" dirty="0"/>
              <a:t>) doğrudan </a:t>
            </a:r>
            <a:r>
              <a:rPr lang="tr-TR" dirty="0" err="1"/>
              <a:t>BNF’ye</a:t>
            </a:r>
            <a:r>
              <a:rPr lang="tr-TR" dirty="0"/>
              <a:t> dayalı olabilir</a:t>
            </a:r>
          </a:p>
          <a:p>
            <a:pPr lvl="0"/>
            <a:r>
              <a:rPr lang="tr-TR" dirty="0" err="1"/>
              <a:t>BNF’ye</a:t>
            </a:r>
            <a:r>
              <a:rPr lang="tr-TR" dirty="0"/>
              <a:t> dayalı ayrıştırıcıların bakımı daha kolaydır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44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Giriş</a:t>
            </a:r>
            <a:r>
              <a:rPr lang="en-US" dirty="0" smtClean="0"/>
              <a:t> (</a:t>
            </a:r>
            <a:r>
              <a:rPr lang="en-US" dirty="0" err="1" smtClean="0"/>
              <a:t>Devamı</a:t>
            </a:r>
            <a:r>
              <a:rPr lang="en-US" dirty="0" smtClean="0"/>
              <a:t>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83820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dirty="0" smtClean="0"/>
              <a:t>Sözcüksel (</a:t>
            </a:r>
            <a:r>
              <a:rPr lang="en-US" dirty="0" smtClean="0"/>
              <a:t>lexical</a:t>
            </a:r>
            <a:r>
              <a:rPr lang="tr-TR" dirty="0" smtClean="0"/>
              <a:t>) ve sentaks (</a:t>
            </a:r>
            <a:r>
              <a:rPr lang="en-US" dirty="0" smtClean="0"/>
              <a:t>syntax</a:t>
            </a:r>
            <a:r>
              <a:rPr lang="tr-TR" dirty="0" smtClean="0"/>
              <a:t>) analizini ayırmanın nedenleri</a:t>
            </a:r>
            <a:r>
              <a:rPr lang="en-US" dirty="0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tr-TR" dirty="0" smtClean="0">
                <a:solidFill>
                  <a:schemeClr val="accent2"/>
                </a:solidFill>
              </a:rPr>
              <a:t>Basitlik </a:t>
            </a:r>
            <a:r>
              <a:rPr lang="en-US" dirty="0" smtClean="0"/>
              <a:t>– </a:t>
            </a:r>
            <a:r>
              <a:rPr lang="tr-TR" dirty="0" smtClean="0"/>
              <a:t>sözcüksel analiz (</a:t>
            </a:r>
            <a:r>
              <a:rPr lang="en-US" dirty="0" smtClean="0"/>
              <a:t>lexical analysis</a:t>
            </a:r>
            <a:r>
              <a:rPr lang="tr-TR" dirty="0" smtClean="0"/>
              <a:t>) için daha az karmaşık yaklaşımlar kullanılabilir</a:t>
            </a:r>
            <a:r>
              <a:rPr lang="en-US" dirty="0" smtClean="0"/>
              <a:t>; </a:t>
            </a:r>
            <a:r>
              <a:rPr lang="tr-TR" dirty="0" smtClean="0"/>
              <a:t>bunları ayırmak ayrıştırıcıyı basitleştirir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tr-TR" dirty="0" smtClean="0">
                <a:solidFill>
                  <a:schemeClr val="accent2"/>
                </a:solidFill>
              </a:rPr>
              <a:t>Verimlilik </a:t>
            </a:r>
            <a:r>
              <a:rPr lang="en-US" dirty="0" smtClean="0"/>
              <a:t>– </a:t>
            </a:r>
            <a:r>
              <a:rPr lang="tr-TR" dirty="0" smtClean="0"/>
              <a:t>ayırmak sözcüksel analizcinin (</a:t>
            </a:r>
            <a:r>
              <a:rPr lang="en-US" dirty="0" smtClean="0"/>
              <a:t>lexical analyzer</a:t>
            </a:r>
            <a:r>
              <a:rPr lang="tr-TR" dirty="0" smtClean="0"/>
              <a:t>) optimizasyonuna imkan verir (sentaks analizciyi optimize etmek sonuç vermez, verimli değil)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tr-TR" dirty="0" smtClean="0">
                <a:solidFill>
                  <a:schemeClr val="accent2"/>
                </a:solidFill>
              </a:rPr>
              <a:t>Taşınabilirlik </a:t>
            </a:r>
            <a:r>
              <a:rPr lang="en-US" dirty="0" smtClean="0"/>
              <a:t>- </a:t>
            </a:r>
            <a:r>
              <a:rPr lang="tr-TR" dirty="0" smtClean="0"/>
              <a:t>sözcüksel analizcinin (</a:t>
            </a:r>
            <a:r>
              <a:rPr lang="en-US" dirty="0" smtClean="0"/>
              <a:t>lexical analyzer</a:t>
            </a:r>
            <a:r>
              <a:rPr lang="tr-TR" dirty="0" smtClean="0"/>
              <a:t>)</a:t>
            </a:r>
            <a:r>
              <a:rPr lang="en-US" dirty="0" smtClean="0"/>
              <a:t> </a:t>
            </a:r>
            <a:r>
              <a:rPr lang="tr-TR" dirty="0" smtClean="0"/>
              <a:t>bölümleri</a:t>
            </a:r>
            <a:r>
              <a:rPr lang="en-US" dirty="0" smtClean="0"/>
              <a:t> </a:t>
            </a:r>
            <a:r>
              <a:rPr lang="tr-TR" dirty="0" smtClean="0"/>
              <a:t>taşınabilir olmayabilir</a:t>
            </a:r>
            <a:r>
              <a:rPr lang="en-US" dirty="0" smtClean="0"/>
              <a:t>, </a:t>
            </a:r>
            <a:r>
              <a:rPr lang="tr-TR" dirty="0" smtClean="0"/>
              <a:t>fakat ayrıştırıcı her zaman taşınabilirdir</a:t>
            </a:r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D19113-1599-41C5-A196-3D1537D22BDB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dirty="0" err="1" smtClean="0"/>
              <a:t>Sözcüksel</a:t>
            </a:r>
            <a:r>
              <a:rPr lang="tr-TR" dirty="0" smtClean="0"/>
              <a:t> (</a:t>
            </a:r>
            <a:r>
              <a:rPr lang="en-US" dirty="0" smtClean="0"/>
              <a:t>Lexical</a:t>
            </a:r>
            <a:r>
              <a:rPr lang="tr-TR" dirty="0" smtClean="0"/>
              <a:t>)</a:t>
            </a:r>
            <a:r>
              <a:rPr lang="en-US" dirty="0" smtClean="0"/>
              <a:t> </a:t>
            </a:r>
            <a:r>
              <a:rPr lang="en-US" dirty="0" err="1" smtClean="0"/>
              <a:t>Anali</a:t>
            </a:r>
            <a:r>
              <a:rPr lang="tr-TR" dirty="0" smtClean="0"/>
              <a:t>z</a:t>
            </a:r>
            <a:endParaRPr lang="en-US" dirty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sz="2400" dirty="0"/>
              <a:t>Sözcüksel analizci (</a:t>
            </a:r>
            <a:r>
              <a:rPr lang="en-US" sz="2400" dirty="0"/>
              <a:t>lexical analyzer</a:t>
            </a:r>
            <a:r>
              <a:rPr lang="tr-TR" sz="2400" dirty="0"/>
              <a:t>), karakter </a:t>
            </a:r>
            <a:r>
              <a:rPr lang="tr-TR" sz="2400" dirty="0" err="1"/>
              <a:t>stringleri</a:t>
            </a:r>
            <a:r>
              <a:rPr lang="tr-TR" sz="2400" dirty="0"/>
              <a:t> için</a:t>
            </a:r>
            <a:r>
              <a:rPr lang="en-US" sz="2400" dirty="0"/>
              <a:t> </a:t>
            </a:r>
            <a:r>
              <a:rPr lang="tr-TR" sz="2400" dirty="0"/>
              <a:t>desen eşleştiricidir</a:t>
            </a:r>
            <a:endParaRPr lang="en-US" sz="2400" dirty="0"/>
          </a:p>
          <a:p>
            <a:pPr eaLnBrk="1" hangingPunct="1"/>
            <a:r>
              <a:rPr lang="tr-TR" sz="2400" dirty="0"/>
              <a:t>Sözcüksel analizci</a:t>
            </a:r>
            <a:r>
              <a:rPr lang="en-US" sz="2400" dirty="0"/>
              <a:t> </a:t>
            </a:r>
            <a:r>
              <a:rPr lang="tr-TR" sz="2400" dirty="0"/>
              <a:t>ayrıştırıcı için bir “ön-uç”tur</a:t>
            </a:r>
            <a:r>
              <a:rPr lang="en-US" sz="2400" dirty="0"/>
              <a:t> </a:t>
            </a:r>
            <a:r>
              <a:rPr lang="tr-TR" sz="2400" dirty="0"/>
              <a:t>(</a:t>
            </a:r>
            <a:r>
              <a:rPr lang="en-US" sz="2400" dirty="0"/>
              <a:t>“front-end”</a:t>
            </a:r>
            <a:r>
              <a:rPr lang="tr-TR" sz="2400" dirty="0"/>
              <a:t>)</a:t>
            </a:r>
            <a:endParaRPr lang="en-US" sz="2400" dirty="0"/>
          </a:p>
          <a:p>
            <a:pPr eaLnBrk="1" hangingPunct="1"/>
            <a:r>
              <a:rPr lang="tr-TR" sz="2400" dirty="0"/>
              <a:t>Kaynak programın birbirine ait olan </a:t>
            </a:r>
            <a:r>
              <a:rPr lang="tr-TR" sz="2400" dirty="0" smtClean="0"/>
              <a:t>alt </a:t>
            </a:r>
            <a:r>
              <a:rPr lang="tr-TR" sz="2400" dirty="0" err="1" smtClean="0"/>
              <a:t>stringlerini</a:t>
            </a:r>
            <a:r>
              <a:rPr lang="tr-TR" sz="2400" dirty="0" smtClean="0"/>
              <a:t> </a:t>
            </a:r>
            <a:r>
              <a:rPr lang="tr-TR" sz="2400" dirty="0"/>
              <a:t>tanımlar </a:t>
            </a:r>
            <a:r>
              <a:rPr lang="en-US" sz="2400" dirty="0"/>
              <a:t>– </a:t>
            </a:r>
            <a:r>
              <a:rPr lang="en-US" sz="2400" dirty="0">
                <a:solidFill>
                  <a:srgbClr val="7030A0"/>
                </a:solidFill>
              </a:rPr>
              <a:t>lexeme</a:t>
            </a:r>
            <a:r>
              <a:rPr lang="tr-TR" sz="2400" dirty="0">
                <a:solidFill>
                  <a:srgbClr val="7030A0"/>
                </a:solidFill>
              </a:rPr>
              <a:t>’</a:t>
            </a:r>
            <a:r>
              <a:rPr lang="tr-TR" sz="2400" dirty="0" err="1">
                <a:solidFill>
                  <a:srgbClr val="7030A0"/>
                </a:solidFill>
              </a:rPr>
              <a:t>ler</a:t>
            </a:r>
            <a:endParaRPr lang="en-US" sz="2400" dirty="0">
              <a:solidFill>
                <a:srgbClr val="7030A0"/>
              </a:solidFill>
            </a:endParaRPr>
          </a:p>
          <a:p>
            <a:pPr lvl="1" eaLnBrk="1" hangingPunct="1"/>
            <a:r>
              <a:rPr lang="en-US" sz="2000" dirty="0">
                <a:solidFill>
                  <a:srgbClr val="990000"/>
                </a:solidFill>
              </a:rPr>
              <a:t>Lexeme</a:t>
            </a:r>
            <a:r>
              <a:rPr lang="tr-TR" sz="2000" dirty="0" err="1"/>
              <a:t>ler</a:t>
            </a:r>
            <a:r>
              <a:rPr lang="tr-TR" sz="2000" dirty="0"/>
              <a:t>,</a:t>
            </a:r>
            <a:r>
              <a:rPr lang="en-US" sz="2000" dirty="0"/>
              <a:t> </a:t>
            </a:r>
            <a:r>
              <a:rPr lang="tr-TR" sz="2000" dirty="0">
                <a:solidFill>
                  <a:srgbClr val="7030A0"/>
                </a:solidFill>
              </a:rPr>
              <a:t>jeton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/>
              <a:t>(</a:t>
            </a:r>
            <a:r>
              <a:rPr lang="en-US" sz="2000" dirty="0">
                <a:solidFill>
                  <a:srgbClr val="002060"/>
                </a:solidFill>
              </a:rPr>
              <a:t>token</a:t>
            </a:r>
            <a:r>
              <a:rPr lang="tr-TR" sz="2000" dirty="0"/>
              <a:t>) adı verilen</a:t>
            </a:r>
            <a:r>
              <a:rPr lang="en-US" sz="2000" dirty="0"/>
              <a:t> </a:t>
            </a:r>
            <a:r>
              <a:rPr lang="tr-TR" sz="2000" dirty="0"/>
              <a:t>sözcüksel (</a:t>
            </a:r>
            <a:r>
              <a:rPr lang="tr-TR" sz="2000" dirty="0" err="1"/>
              <a:t>lexical</a:t>
            </a:r>
            <a:r>
              <a:rPr lang="tr-TR" sz="2000" dirty="0"/>
              <a:t>) bir kategoriyle ilişkilendirilmiş olan bir karakter desenini eşleştirir</a:t>
            </a:r>
            <a:endParaRPr lang="en-US" sz="2000" dirty="0">
              <a:solidFill>
                <a:schemeClr val="accent1"/>
              </a:solidFill>
            </a:endParaRPr>
          </a:p>
          <a:p>
            <a:pPr lvl="1" eaLnBrk="1" hangingPunct="1"/>
            <a:r>
              <a:rPr lang="en-US" sz="2000" b="1" dirty="0">
                <a:latin typeface="Courier New" pitchFamily="49" charset="0"/>
              </a:rPr>
              <a:t>sum</a:t>
            </a:r>
            <a:r>
              <a:rPr lang="en-US" sz="2000" dirty="0"/>
              <a:t> </a:t>
            </a:r>
            <a:r>
              <a:rPr lang="tr-TR" sz="2000" dirty="0"/>
              <a:t>bir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990000"/>
                </a:solidFill>
              </a:rPr>
              <a:t>lexeme</a:t>
            </a:r>
            <a:r>
              <a:rPr lang="tr-TR" sz="2000" dirty="0" err="1"/>
              <a:t>dir</a:t>
            </a:r>
            <a:r>
              <a:rPr lang="en-US" sz="2000" dirty="0"/>
              <a:t>; </a:t>
            </a:r>
            <a:r>
              <a:rPr lang="tr-TR" sz="2000" dirty="0"/>
              <a:t>jetonu (</a:t>
            </a:r>
            <a:r>
              <a:rPr lang="en-US" sz="2000" dirty="0"/>
              <a:t>token</a:t>
            </a:r>
            <a:r>
              <a:rPr lang="tr-TR" sz="2000" dirty="0"/>
              <a:t>)</a:t>
            </a:r>
            <a:r>
              <a:rPr lang="en-US" sz="2000" dirty="0"/>
              <a:t> </a:t>
            </a:r>
            <a:r>
              <a:rPr lang="en-US" sz="2000" b="1" dirty="0">
                <a:latin typeface="Courier New" pitchFamily="49" charset="0"/>
              </a:rPr>
              <a:t>IDENT</a:t>
            </a:r>
            <a:r>
              <a:rPr lang="tr-TR" sz="2000" b="1" dirty="0">
                <a:latin typeface="Courier New" pitchFamily="49" charset="0"/>
              </a:rPr>
              <a:t> </a:t>
            </a:r>
            <a:r>
              <a:rPr lang="tr-TR" sz="2000" dirty="0"/>
              <a:t>olabilir</a:t>
            </a:r>
            <a:endParaRPr lang="en-US" sz="2000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51B400-732B-486B-ABBD-BC64C52D8900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5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4.2 </a:t>
            </a:r>
            <a:r>
              <a:rPr lang="tr-TR" sz="3200"/>
              <a:t>Sözcüksel (</a:t>
            </a:r>
            <a:r>
              <a:rPr lang="en-US" sz="3200"/>
              <a:t>Lexical</a:t>
            </a:r>
            <a:r>
              <a:rPr lang="tr-TR" sz="3200"/>
              <a:t>)</a:t>
            </a:r>
            <a:r>
              <a:rPr lang="en-US" sz="3200"/>
              <a:t> Anali</a:t>
            </a:r>
            <a:r>
              <a:rPr lang="tr-TR" sz="3200"/>
              <a:t>z</a:t>
            </a:r>
            <a:r>
              <a:rPr lang="en-US" sz="3200"/>
              <a:t> (Devamı)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0"/>
            <a:ext cx="8534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z="2400" dirty="0"/>
              <a:t>Sözcüksel analizci (</a:t>
            </a:r>
            <a:r>
              <a:rPr lang="en-US" sz="2400" dirty="0"/>
              <a:t>lexical analyzer</a:t>
            </a:r>
            <a:r>
              <a:rPr lang="tr-TR" sz="2400" dirty="0"/>
              <a:t>), genellikle ayrıştırıcının</a:t>
            </a:r>
            <a:r>
              <a:rPr lang="en-US" sz="2400" dirty="0"/>
              <a:t> </a:t>
            </a:r>
            <a:r>
              <a:rPr lang="tr-TR" sz="2400" dirty="0"/>
              <a:t>sonraki jetona (</a:t>
            </a:r>
            <a:r>
              <a:rPr lang="en-US" sz="2400" dirty="0"/>
              <a:t>token</a:t>
            </a:r>
            <a:r>
              <a:rPr lang="tr-TR" sz="2400" dirty="0"/>
              <a:t>) ihtiyaç duyduğunda  çağırdığı fonksiyondur. Sözcüksel analizci (</a:t>
            </a:r>
            <a:r>
              <a:rPr lang="en-US" sz="2400" dirty="0"/>
              <a:t>lexical analyzer</a:t>
            </a:r>
            <a:r>
              <a:rPr lang="tr-TR" sz="2400" dirty="0"/>
              <a:t>) oluşturmaya üç yaklaşım</a:t>
            </a:r>
            <a:r>
              <a:rPr lang="en-US" sz="24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tr-TR" sz="2000" dirty="0"/>
              <a:t>Jetonların biçimsel tanımı yazılır ve bu tanıma göre tablo-sürümlü sözcüksel analizciyi oluşturan yazılım aracı kullanılır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tr-TR" sz="2000" dirty="0"/>
              <a:t>Jetonları tanımlayan bir durum diyagramı tasarlanır</a:t>
            </a:r>
            <a:r>
              <a:rPr lang="en-US" sz="2000" dirty="0"/>
              <a:t> </a:t>
            </a:r>
            <a:r>
              <a:rPr lang="tr-TR" sz="2000" dirty="0"/>
              <a:t>ve</a:t>
            </a:r>
            <a:r>
              <a:rPr lang="en-US" sz="2000" dirty="0"/>
              <a:t> </a:t>
            </a:r>
            <a:r>
              <a:rPr lang="tr-TR" sz="2000" dirty="0"/>
              <a:t>durum diyagramını implement eden bir program yazılır</a:t>
            </a: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tr-TR" sz="2000" dirty="0"/>
              <a:t>Jetonları tanımlayan bir durum diyagramı tasarlanır ve el ile</a:t>
            </a:r>
            <a:r>
              <a:rPr lang="en-US" sz="2000" dirty="0"/>
              <a:t> </a:t>
            </a:r>
            <a:r>
              <a:rPr lang="tr-TR" sz="2000" dirty="0"/>
              <a:t>durum diyagramının tablo-sürümlü bir </a:t>
            </a:r>
            <a:r>
              <a:rPr lang="en-US" sz="2000" dirty="0" err="1"/>
              <a:t>implementasyon</a:t>
            </a:r>
            <a:r>
              <a:rPr lang="tr-TR" sz="2000" dirty="0"/>
              <a:t>u </a:t>
            </a:r>
            <a:r>
              <a:rPr lang="tr-TR" sz="2000" dirty="0" smtClean="0"/>
              <a:t>yapılır.</a:t>
            </a:r>
            <a:endParaRPr lang="en-US" sz="2000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77A77D-F8E4-4476-AD37-BD59D455CDC0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200" dirty="0" err="1" smtClean="0"/>
              <a:t>Sözcüksel</a:t>
            </a:r>
            <a:r>
              <a:rPr lang="tr-TR" sz="3200" dirty="0" smtClean="0"/>
              <a:t> </a:t>
            </a:r>
            <a:r>
              <a:rPr lang="tr-TR" sz="3200" dirty="0"/>
              <a:t>(</a:t>
            </a:r>
            <a:r>
              <a:rPr lang="en-US" sz="3200" dirty="0"/>
              <a:t>Lexical</a:t>
            </a:r>
            <a:r>
              <a:rPr lang="tr-TR" sz="3200" dirty="0"/>
              <a:t>)</a:t>
            </a:r>
            <a:r>
              <a:rPr lang="en-US" sz="3200" dirty="0"/>
              <a:t> </a:t>
            </a:r>
            <a:r>
              <a:rPr lang="en-US" sz="3200" dirty="0" err="1"/>
              <a:t>Anali</a:t>
            </a:r>
            <a:r>
              <a:rPr lang="tr-TR" sz="3200" dirty="0"/>
              <a:t>z</a:t>
            </a:r>
            <a:r>
              <a:rPr lang="en-US" sz="3200" dirty="0"/>
              <a:t> (</a:t>
            </a:r>
            <a:r>
              <a:rPr lang="en-US" sz="3200" dirty="0" err="1"/>
              <a:t>Devamı</a:t>
            </a:r>
            <a:r>
              <a:rPr lang="en-US" sz="3200" dirty="0"/>
              <a:t>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smtClean="0"/>
              <a:t>Çoğu kez</a:t>
            </a:r>
            <a:r>
              <a:rPr lang="en-US" smtClean="0"/>
              <a:t>, </a:t>
            </a:r>
            <a:r>
              <a:rPr lang="tr-TR" smtClean="0"/>
              <a:t>durum diyagramı basitleştirmek için geçişler birleştirilebilir</a:t>
            </a:r>
            <a:endParaRPr lang="en-US" smtClean="0"/>
          </a:p>
          <a:p>
            <a:pPr lvl="1" eaLnBrk="1" hangingPunct="1"/>
            <a:r>
              <a:rPr lang="tr-TR" smtClean="0"/>
              <a:t>Bir tanıtıcıyı (</a:t>
            </a:r>
            <a:r>
              <a:rPr lang="en-US" smtClean="0"/>
              <a:t>identifier</a:t>
            </a:r>
            <a:r>
              <a:rPr lang="tr-TR" smtClean="0"/>
              <a:t>) tanırken</a:t>
            </a:r>
            <a:r>
              <a:rPr lang="en-US" smtClean="0"/>
              <a:t>, </a:t>
            </a:r>
            <a:r>
              <a:rPr lang="tr-TR" smtClean="0"/>
              <a:t>bütün büyük (</a:t>
            </a:r>
            <a:r>
              <a:rPr lang="en-US" smtClean="0"/>
              <a:t>uppercase</a:t>
            </a:r>
            <a:r>
              <a:rPr lang="tr-TR" smtClean="0"/>
              <a:t>) ve küçük (</a:t>
            </a:r>
            <a:r>
              <a:rPr lang="en-US" smtClean="0"/>
              <a:t>lowercase</a:t>
            </a:r>
            <a:r>
              <a:rPr lang="tr-TR" smtClean="0"/>
              <a:t>) harfler eşittir</a:t>
            </a:r>
            <a:endParaRPr lang="en-US" smtClean="0"/>
          </a:p>
          <a:p>
            <a:pPr lvl="2" eaLnBrk="1" hangingPunct="1"/>
            <a:r>
              <a:rPr lang="tr-TR" smtClean="0"/>
              <a:t>Bütün harfleri içeren bir karakter sınıfı (character class) kullanılır</a:t>
            </a:r>
            <a:endParaRPr lang="en-US" smtClean="0"/>
          </a:p>
          <a:p>
            <a:pPr lvl="1" eaLnBrk="1" hangingPunct="1"/>
            <a:r>
              <a:rPr lang="tr-TR" smtClean="0"/>
              <a:t>Bir sabit tamsayıyı (</a:t>
            </a:r>
            <a:r>
              <a:rPr lang="en-US" smtClean="0"/>
              <a:t>integer literal</a:t>
            </a:r>
            <a:r>
              <a:rPr lang="tr-TR" smtClean="0"/>
              <a:t>) tanırken</a:t>
            </a:r>
            <a:r>
              <a:rPr lang="en-US" smtClean="0"/>
              <a:t>, </a:t>
            </a:r>
            <a:r>
              <a:rPr lang="tr-TR" smtClean="0"/>
              <a:t>bütün rakamlar (digits) eşittir</a:t>
            </a:r>
            <a:r>
              <a:rPr lang="en-US" smtClean="0"/>
              <a:t> – </a:t>
            </a:r>
            <a:r>
              <a:rPr lang="tr-TR" smtClean="0"/>
              <a:t>bir rakam sınıfı (</a:t>
            </a:r>
            <a:r>
              <a:rPr lang="en-US" smtClean="0"/>
              <a:t>digit class</a:t>
            </a:r>
            <a:r>
              <a:rPr lang="tr-TR" smtClean="0"/>
              <a:t>) kullanılır</a:t>
            </a:r>
            <a:endParaRPr lang="en-US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D7EAA2B-A1F5-4F60-9EA5-E4C67A3228B9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85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200" dirty="0" err="1" smtClean="0"/>
              <a:t>Sözcüksel</a:t>
            </a:r>
            <a:r>
              <a:rPr lang="tr-TR" sz="3200" dirty="0" smtClean="0"/>
              <a:t> </a:t>
            </a:r>
            <a:r>
              <a:rPr lang="tr-TR" sz="3200" dirty="0"/>
              <a:t>(</a:t>
            </a:r>
            <a:r>
              <a:rPr lang="en-US" sz="3200" dirty="0"/>
              <a:t>Lexical</a:t>
            </a:r>
            <a:r>
              <a:rPr lang="tr-TR" sz="3200" dirty="0"/>
              <a:t>)</a:t>
            </a:r>
            <a:r>
              <a:rPr lang="en-US" sz="3200" dirty="0"/>
              <a:t> </a:t>
            </a:r>
            <a:r>
              <a:rPr lang="en-US" sz="3200" dirty="0" err="1"/>
              <a:t>Anali</a:t>
            </a:r>
            <a:r>
              <a:rPr lang="tr-TR" sz="3200" dirty="0"/>
              <a:t>z</a:t>
            </a:r>
            <a:r>
              <a:rPr lang="en-US" sz="3200" dirty="0"/>
              <a:t> (</a:t>
            </a:r>
            <a:r>
              <a:rPr lang="en-US" sz="3200" dirty="0" err="1"/>
              <a:t>Devamı</a:t>
            </a:r>
            <a:r>
              <a:rPr lang="en-US" sz="3200" dirty="0"/>
              <a:t>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dirty="0" smtClean="0"/>
              <a:t>Ayrılmış sözcükler (r</a:t>
            </a:r>
            <a:r>
              <a:rPr lang="en-US" dirty="0" err="1" smtClean="0"/>
              <a:t>eserved</a:t>
            </a:r>
            <a:r>
              <a:rPr lang="en-US" dirty="0" smtClean="0"/>
              <a:t> words</a:t>
            </a:r>
            <a:r>
              <a:rPr lang="tr-TR" dirty="0" smtClean="0"/>
              <a:t>) ve tanıtıcılar (</a:t>
            </a:r>
            <a:r>
              <a:rPr lang="en-US" dirty="0" smtClean="0"/>
              <a:t>identifiers</a:t>
            </a:r>
            <a:r>
              <a:rPr lang="tr-TR" dirty="0" smtClean="0"/>
              <a:t>)</a:t>
            </a:r>
            <a:r>
              <a:rPr lang="en-US" dirty="0" smtClean="0"/>
              <a:t> </a:t>
            </a:r>
            <a:r>
              <a:rPr lang="tr-TR" dirty="0" smtClean="0"/>
              <a:t>birlikte tanınabilir</a:t>
            </a:r>
            <a:r>
              <a:rPr lang="en-US" dirty="0" smtClean="0"/>
              <a:t> (</a:t>
            </a:r>
            <a:r>
              <a:rPr lang="tr-TR" dirty="0" smtClean="0"/>
              <a:t>her bir ayrılmış sözcük için programın bir parçasını almak yerine</a:t>
            </a:r>
            <a:r>
              <a:rPr lang="en-US" dirty="0" smtClean="0"/>
              <a:t>)</a:t>
            </a:r>
          </a:p>
          <a:p>
            <a:pPr lvl="1" eaLnBrk="1" hangingPunct="1"/>
            <a:r>
              <a:rPr lang="tr-TR" dirty="0" smtClean="0"/>
              <a:t>Olası bir tanıtıcının (</a:t>
            </a:r>
            <a:r>
              <a:rPr lang="en-US" dirty="0" smtClean="0"/>
              <a:t>identifier</a:t>
            </a:r>
            <a:r>
              <a:rPr lang="tr-TR" dirty="0" smtClean="0"/>
              <a:t>) aslında ayrılmış sözcük olup olmadığına karar vermek için, tabloya başvurma (</a:t>
            </a:r>
            <a:r>
              <a:rPr lang="en-US" dirty="0" smtClean="0"/>
              <a:t>table lookup</a:t>
            </a:r>
            <a:r>
              <a:rPr lang="tr-TR" dirty="0" smtClean="0"/>
              <a:t>) kullanılır</a:t>
            </a:r>
            <a:r>
              <a:rPr lang="en-US" dirty="0" smtClean="0"/>
              <a:t> </a:t>
            </a:r>
            <a:endParaRPr lang="tr-TR" dirty="0" smtClean="0"/>
          </a:p>
          <a:p>
            <a:pPr lvl="1"/>
            <a:r>
              <a:rPr lang="tr-TR" dirty="0" smtClean="0"/>
              <a:t>Sözlükler, </a:t>
            </a:r>
            <a:r>
              <a:rPr lang="tr-TR" dirty="0" err="1" smtClean="0"/>
              <a:t>token</a:t>
            </a:r>
            <a:r>
              <a:rPr lang="tr-TR" dirty="0" smtClean="0"/>
              <a:t> adı verilen sözcük kategorisiyle ilişkilendirilmiş bir karakter kalıbıyla eşleşir.</a:t>
            </a:r>
          </a:p>
          <a:p>
            <a:pPr lvl="1"/>
            <a:r>
              <a:rPr lang="tr-TR" dirty="0" err="1" smtClean="0"/>
              <a:t>int</a:t>
            </a:r>
            <a:r>
              <a:rPr lang="tr-TR" dirty="0" smtClean="0"/>
              <a:t> </a:t>
            </a:r>
            <a:r>
              <a:rPr lang="tr-TR" dirty="0" err="1" smtClean="0"/>
              <a:t>value</a:t>
            </a:r>
            <a:r>
              <a:rPr lang="tr-TR" dirty="0" smtClean="0"/>
              <a:t> = 100;</a:t>
            </a:r>
          </a:p>
          <a:p>
            <a:pPr lvl="1"/>
            <a:r>
              <a:rPr lang="tr-TR" dirty="0" err="1" smtClean="0"/>
              <a:t>Token’lar</a:t>
            </a:r>
            <a:r>
              <a:rPr lang="tr-TR" dirty="0" smtClean="0"/>
              <a:t>: </a:t>
            </a:r>
            <a:r>
              <a:rPr lang="tr-TR" dirty="0" err="1" smtClean="0"/>
              <a:t>int</a:t>
            </a:r>
            <a:r>
              <a:rPr lang="tr-TR" dirty="0" smtClean="0"/>
              <a:t> (</a:t>
            </a:r>
            <a:r>
              <a:rPr lang="tr-TR" dirty="0" err="1" smtClean="0"/>
              <a:t>keyword</a:t>
            </a:r>
            <a:r>
              <a:rPr lang="tr-TR" dirty="0" smtClean="0"/>
              <a:t>), </a:t>
            </a:r>
            <a:r>
              <a:rPr lang="tr-TR" dirty="0" err="1" smtClean="0"/>
              <a:t>value</a:t>
            </a:r>
            <a:r>
              <a:rPr lang="tr-TR" dirty="0" smtClean="0"/>
              <a:t> (</a:t>
            </a:r>
            <a:r>
              <a:rPr lang="tr-TR" dirty="0" err="1" smtClean="0"/>
              <a:t>identifier</a:t>
            </a:r>
            <a:r>
              <a:rPr lang="tr-TR" dirty="0" smtClean="0"/>
              <a:t>), = (</a:t>
            </a:r>
            <a:r>
              <a:rPr lang="tr-TR" dirty="0" err="1" smtClean="0"/>
              <a:t>operator</a:t>
            </a:r>
            <a:r>
              <a:rPr lang="tr-TR" dirty="0" smtClean="0"/>
              <a:t>), 100 (</a:t>
            </a:r>
            <a:r>
              <a:rPr lang="tr-TR" dirty="0" err="1" smtClean="0"/>
              <a:t>constant</a:t>
            </a:r>
            <a:r>
              <a:rPr lang="tr-TR" dirty="0" smtClean="0"/>
              <a:t>) </a:t>
            </a:r>
            <a:r>
              <a:rPr lang="tr-TR" dirty="0" err="1" smtClean="0"/>
              <a:t>and</a:t>
            </a:r>
            <a:r>
              <a:rPr lang="tr-TR" dirty="0" smtClean="0"/>
              <a:t> ; (</a:t>
            </a:r>
            <a:r>
              <a:rPr lang="tr-TR" dirty="0" err="1" smtClean="0"/>
              <a:t>symbol</a:t>
            </a:r>
            <a:r>
              <a:rPr lang="tr-TR" dirty="0" smtClean="0"/>
              <a:t>).</a:t>
            </a:r>
          </a:p>
          <a:p>
            <a:pPr lvl="1" eaLnBrk="1" hangingPunct="1"/>
            <a:endParaRPr lang="tr-TR" dirty="0" smtClean="0"/>
          </a:p>
          <a:p>
            <a:pPr lvl="1" eaLnBrk="1" hangingPunct="1"/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4FF632-2E6C-44C9-BF07-CC06C39C01CD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" name="Dikdörtgen 1"/>
          <p:cNvSpPr/>
          <p:nvPr/>
        </p:nvSpPr>
        <p:spPr>
          <a:xfrm>
            <a:off x="1096108" y="4523973"/>
            <a:ext cx="95777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5"/>
              </a:spcBef>
              <a:spcAft>
                <a:spcPts val="0"/>
              </a:spcAft>
            </a:pPr>
            <a:r>
              <a:rPr lang="tr-TR" sz="700" dirty="0" smtClean="0">
                <a:effectLst/>
                <a:latin typeface="VL PGothic"/>
                <a:ea typeface="VL PGothic"/>
                <a:cs typeface="VL PGothic"/>
              </a:rPr>
              <a:t> </a:t>
            </a:r>
            <a:endParaRPr lang="tr-TR" sz="1900" dirty="0">
              <a:effectLst/>
              <a:latin typeface="VL PGothic"/>
              <a:ea typeface="VL PGothic"/>
              <a:cs typeface="VL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78102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Regular</a:t>
            </a:r>
            <a:r>
              <a:rPr lang="tr-TR" dirty="0" smtClean="0"/>
              <a:t> </a:t>
            </a:r>
            <a:r>
              <a:rPr lang="tr-TR" dirty="0" err="1" smtClean="0"/>
              <a:t>Expressions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Sözcüksel</a:t>
            </a:r>
            <a:r>
              <a:rPr lang="tr-TR" dirty="0" smtClean="0"/>
              <a:t> </a:t>
            </a:r>
            <a:r>
              <a:rPr lang="tr-TR" dirty="0"/>
              <a:t>analizci, dil kuralları tarafından </a:t>
            </a:r>
            <a:r>
              <a:rPr lang="tr-TR" dirty="0" smtClean="0"/>
              <a:t>tanımlanan</a:t>
            </a:r>
            <a:r>
              <a:rPr lang="tr-TR" sz="1200" dirty="0" smtClean="0"/>
              <a:t> </a:t>
            </a:r>
            <a:r>
              <a:rPr lang="tr-TR" dirty="0" smtClean="0"/>
              <a:t>deseni </a:t>
            </a:r>
            <a:r>
              <a:rPr lang="tr-TR" dirty="0"/>
              <a:t>arar.</a:t>
            </a:r>
            <a:endParaRPr lang="tr-TR" sz="1200" dirty="0"/>
          </a:p>
          <a:p>
            <a:r>
              <a:rPr lang="tr-TR" dirty="0" smtClean="0"/>
              <a:t>Düzenli </a:t>
            </a:r>
            <a:r>
              <a:rPr lang="tr-TR" dirty="0"/>
              <a:t>ifadeler, kalıpları belirlemek için önemli bir </a:t>
            </a:r>
            <a:r>
              <a:rPr lang="tr-TR" dirty="0" err="1"/>
              <a:t>notasyondur</a:t>
            </a:r>
            <a:r>
              <a:rPr lang="tr-TR" dirty="0"/>
              <a:t>.</a:t>
            </a:r>
            <a:endParaRPr lang="tr-TR" sz="1200" dirty="0"/>
          </a:p>
          <a:p>
            <a:r>
              <a:rPr lang="tr-TR" dirty="0" smtClean="0"/>
              <a:t>Düzenli </a:t>
            </a:r>
            <a:r>
              <a:rPr lang="tr-TR" dirty="0"/>
              <a:t>ifadeler, özyinelemeli bir tanım örneğidir.</a:t>
            </a:r>
            <a:endParaRPr lang="tr-TR" sz="1200" dirty="0"/>
          </a:p>
          <a:p>
            <a:r>
              <a:rPr lang="tr-TR" dirty="0" smtClean="0"/>
              <a:t>Düzenli </a:t>
            </a:r>
            <a:r>
              <a:rPr lang="tr-TR" dirty="0"/>
              <a:t>dillerin anlaşılması ve </a:t>
            </a:r>
            <a:r>
              <a:rPr lang="tr-TR" dirty="0" err="1"/>
              <a:t>uygulanırlığı</a:t>
            </a:r>
            <a:r>
              <a:rPr lang="tr-TR" dirty="0"/>
              <a:t> kolaydır.</a:t>
            </a:r>
            <a:endParaRPr lang="tr-TR" sz="1200" dirty="0"/>
          </a:p>
          <a:p>
            <a:pPr lvl="1"/>
            <a:r>
              <a:rPr lang="tr-TR" dirty="0" err="1"/>
              <a:t>letter</a:t>
            </a:r>
            <a:r>
              <a:rPr lang="tr-TR" dirty="0"/>
              <a:t> = [a – z] </a:t>
            </a:r>
            <a:r>
              <a:rPr lang="tr-TR" dirty="0" err="1"/>
              <a:t>or</a:t>
            </a:r>
            <a:r>
              <a:rPr lang="tr-TR" dirty="0"/>
              <a:t> [A – Z]</a:t>
            </a:r>
            <a:endParaRPr lang="tr-TR" sz="1200" dirty="0"/>
          </a:p>
          <a:p>
            <a:pPr lvl="1"/>
            <a:r>
              <a:rPr lang="tr-TR" dirty="0" err="1"/>
              <a:t>digit</a:t>
            </a:r>
            <a:r>
              <a:rPr lang="tr-TR" dirty="0"/>
              <a:t> = 0 | 1 | 2 | 3 | 4 | 5 | 6 | 7 | 8 | 9 </a:t>
            </a:r>
            <a:r>
              <a:rPr lang="tr-TR" dirty="0" err="1"/>
              <a:t>or</a:t>
            </a:r>
            <a:r>
              <a:rPr lang="tr-TR" dirty="0"/>
              <a:t> [0-9]</a:t>
            </a:r>
            <a:endParaRPr lang="tr-TR" sz="1200" dirty="0"/>
          </a:p>
          <a:p>
            <a:pPr lvl="1"/>
            <a:r>
              <a:rPr lang="tr-TR" dirty="0" err="1"/>
              <a:t>sign</a:t>
            </a:r>
            <a:r>
              <a:rPr lang="tr-TR" dirty="0"/>
              <a:t> = [ + | - ]</a:t>
            </a:r>
            <a:endParaRPr lang="tr-TR" sz="1200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14706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Regüler İfadeler</a:t>
            </a:r>
            <a:endParaRPr lang="tr-TR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2909" y="2028092"/>
            <a:ext cx="6831622" cy="3391672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3049D9-BC70-4B50-ABCF-9415168072A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88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err="1" smtClean="0"/>
              <a:t>Sözcüksel</a:t>
            </a:r>
            <a:r>
              <a:rPr lang="tr-TR" dirty="0" smtClean="0"/>
              <a:t> </a:t>
            </a:r>
            <a:r>
              <a:rPr lang="tr-TR" dirty="0"/>
              <a:t>analizciler belirli bir girdi dizgesinden </a:t>
            </a:r>
            <a:r>
              <a:rPr lang="tr-TR" dirty="0" err="1" smtClean="0"/>
              <a:t>lexemeleri</a:t>
            </a:r>
            <a:r>
              <a:rPr lang="tr-TR" dirty="0" smtClean="0"/>
              <a:t> çıkarır </a:t>
            </a:r>
            <a:r>
              <a:rPr lang="tr-TR" dirty="0"/>
              <a:t>ve karşılık gelen sembolleri üretir</a:t>
            </a:r>
          </a:p>
          <a:p>
            <a:pPr lvl="1"/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= 100;</a:t>
            </a:r>
            <a:endParaRPr lang="tr-TR" sz="1200" dirty="0"/>
          </a:p>
          <a:p>
            <a:pPr lvl="1"/>
            <a:r>
              <a:rPr lang="tr-TR" dirty="0" err="1"/>
              <a:t>Lexeme’ler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, </a:t>
            </a:r>
            <a:r>
              <a:rPr lang="tr-TR" dirty="0" err="1"/>
              <a:t>value</a:t>
            </a:r>
            <a:r>
              <a:rPr lang="tr-TR" dirty="0"/>
              <a:t>, =, 100, ;</a:t>
            </a:r>
            <a:endParaRPr lang="tr-TR" sz="1200" dirty="0"/>
          </a:p>
          <a:p>
            <a:pPr lvl="1"/>
            <a:r>
              <a:rPr lang="tr-TR" dirty="0" err="1"/>
              <a:t>Token’lar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(</a:t>
            </a:r>
            <a:r>
              <a:rPr lang="tr-TR" dirty="0" err="1"/>
              <a:t>keyword</a:t>
            </a:r>
            <a:r>
              <a:rPr lang="tr-TR" dirty="0"/>
              <a:t>), </a:t>
            </a:r>
            <a:r>
              <a:rPr lang="tr-TR" dirty="0" err="1"/>
              <a:t>value</a:t>
            </a:r>
            <a:r>
              <a:rPr lang="tr-TR" dirty="0"/>
              <a:t> (</a:t>
            </a:r>
            <a:r>
              <a:rPr lang="tr-TR" dirty="0" err="1"/>
              <a:t>identifier</a:t>
            </a:r>
            <a:r>
              <a:rPr lang="tr-TR" dirty="0"/>
              <a:t>), = (</a:t>
            </a:r>
            <a:r>
              <a:rPr lang="tr-TR" dirty="0" err="1"/>
              <a:t>operator</a:t>
            </a:r>
            <a:r>
              <a:rPr lang="tr-TR" dirty="0"/>
              <a:t>), 100 (</a:t>
            </a:r>
            <a:r>
              <a:rPr lang="tr-TR" dirty="0" err="1"/>
              <a:t>constant</a:t>
            </a:r>
            <a:r>
              <a:rPr lang="tr-TR" dirty="0"/>
              <a:t>) </a:t>
            </a:r>
            <a:r>
              <a:rPr lang="tr-TR" dirty="0" err="1"/>
              <a:t>and</a:t>
            </a:r>
            <a:r>
              <a:rPr lang="tr-TR" dirty="0"/>
              <a:t> ; (</a:t>
            </a:r>
            <a:r>
              <a:rPr lang="tr-TR" dirty="0" err="1"/>
              <a:t>symbol</a:t>
            </a:r>
            <a:r>
              <a:rPr lang="tr-TR" dirty="0"/>
              <a:t>).</a:t>
            </a:r>
            <a:endParaRPr lang="tr-TR" sz="1200" dirty="0"/>
          </a:p>
          <a:p>
            <a:r>
              <a:rPr lang="tr-TR" sz="3200" dirty="0"/>
              <a:t>D</a:t>
            </a:r>
            <a:r>
              <a:rPr lang="tr-TR" dirty="0" smtClean="0"/>
              <a:t>erleyicilerin </a:t>
            </a:r>
            <a:r>
              <a:rPr lang="tr-TR" dirty="0"/>
              <a:t>ilk zamanlarında </a:t>
            </a:r>
            <a:r>
              <a:rPr lang="tr-TR" dirty="0" err="1"/>
              <a:t>sözcüksel</a:t>
            </a:r>
            <a:r>
              <a:rPr lang="tr-TR" dirty="0"/>
              <a:t> analizciler genelde bütün bir kaynak program dosyasını işler ve ardından </a:t>
            </a:r>
            <a:r>
              <a:rPr lang="tr-TR" dirty="0" err="1"/>
              <a:t>token</a:t>
            </a:r>
            <a:r>
              <a:rPr lang="tr-TR" dirty="0"/>
              <a:t> ve </a:t>
            </a:r>
            <a:r>
              <a:rPr lang="tr-TR" dirty="0" err="1"/>
              <a:t>lexemes</a:t>
            </a:r>
            <a:r>
              <a:rPr lang="tr-TR" dirty="0"/>
              <a:t> dosyaları üretirlerdi</a:t>
            </a:r>
          </a:p>
          <a:p>
            <a:r>
              <a:rPr lang="tr-TR" dirty="0" smtClean="0"/>
              <a:t>Güncel </a:t>
            </a:r>
            <a:r>
              <a:rPr lang="tr-TR" dirty="0"/>
              <a:t>derleyicilerde bulunan </a:t>
            </a:r>
            <a:r>
              <a:rPr lang="tr-TR" dirty="0" err="1"/>
              <a:t>sözcüksel</a:t>
            </a:r>
            <a:r>
              <a:rPr lang="tr-TR" dirty="0"/>
              <a:t> analizciler, giriş olarak uygulanan kaynak koddaki bir sonraki </a:t>
            </a:r>
            <a:r>
              <a:rPr lang="tr-TR" dirty="0" err="1"/>
              <a:t>lexeme’ı</a:t>
            </a:r>
            <a:r>
              <a:rPr lang="tr-TR" dirty="0"/>
              <a:t> bulan, onun sembolünü belirleyen ve sözdizimi analizörüne geri döndüren </a:t>
            </a:r>
            <a:r>
              <a:rPr lang="tr-TR" b="1" dirty="0"/>
              <a:t>altprogramlardır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1066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Sözcüksel</a:t>
            </a:r>
            <a:r>
              <a:rPr lang="tr-TR" b="1" dirty="0"/>
              <a:t> analizör genellikle bir sonraki </a:t>
            </a:r>
            <a:r>
              <a:rPr lang="tr-TR" b="1" dirty="0" err="1"/>
              <a:t>token'a</a:t>
            </a:r>
            <a:r>
              <a:rPr lang="tr-TR" b="1" dirty="0"/>
              <a:t> ihtiyaç duyduğunda ayrıştırıcı tarafından çağrılan bir fonksiyondur.</a:t>
            </a:r>
          </a:p>
          <a:p>
            <a:r>
              <a:rPr lang="tr-TR" dirty="0" err="1" smtClean="0"/>
              <a:t>Sözcüksel</a:t>
            </a:r>
            <a:r>
              <a:rPr lang="tr-TR" dirty="0" smtClean="0"/>
              <a:t> </a:t>
            </a:r>
            <a:r>
              <a:rPr lang="tr-TR" dirty="0"/>
              <a:t>analizci oluşturmaya yönelik üç yaklaşım:</a:t>
            </a:r>
            <a:endParaRPr lang="tr-TR" sz="1400" dirty="0"/>
          </a:p>
          <a:p>
            <a:pPr lvl="1"/>
            <a:r>
              <a:rPr lang="tr-TR" dirty="0" err="1"/>
              <a:t>Token’lar</a:t>
            </a:r>
            <a:r>
              <a:rPr lang="tr-TR" dirty="0"/>
              <a:t> resmi bir tanımını yazma ve böyle bir tanımlama için tabloya dayalı (</a:t>
            </a:r>
            <a:r>
              <a:rPr lang="tr-TR" dirty="0" err="1"/>
              <a:t>table-driven</a:t>
            </a:r>
            <a:r>
              <a:rPr lang="tr-TR" dirty="0"/>
              <a:t>) bir </a:t>
            </a:r>
            <a:r>
              <a:rPr lang="tr-TR" dirty="0" err="1"/>
              <a:t>sözcüksel</a:t>
            </a:r>
            <a:r>
              <a:rPr lang="tr-TR" dirty="0"/>
              <a:t> analizci oluşturan bir yazılım aracı kullanma.</a:t>
            </a:r>
            <a:endParaRPr lang="tr-TR" sz="1200" dirty="0"/>
          </a:p>
          <a:p>
            <a:pPr lvl="1"/>
            <a:r>
              <a:rPr lang="tr-TR" dirty="0" err="1"/>
              <a:t>Token’ları</a:t>
            </a:r>
            <a:r>
              <a:rPr lang="tr-TR" dirty="0"/>
              <a:t> tanımlayan bir durum (</a:t>
            </a:r>
            <a:r>
              <a:rPr lang="tr-TR" dirty="0" err="1"/>
              <a:t>state</a:t>
            </a:r>
            <a:r>
              <a:rPr lang="tr-TR" dirty="0"/>
              <a:t>) diyagramı tasarlama ve durum diyagramını uygulayan bir program yazma</a:t>
            </a:r>
            <a:endParaRPr lang="tr-TR" sz="1200" dirty="0"/>
          </a:p>
          <a:p>
            <a:pPr lvl="1"/>
            <a:r>
              <a:rPr lang="tr-TR" dirty="0" err="1"/>
              <a:t>Token’ları</a:t>
            </a:r>
            <a:r>
              <a:rPr lang="tr-TR" dirty="0"/>
              <a:t> açıklayan bir durum diyagramı tasarlayın ve durum diyagramının tabloya dayalı bir uygulamasını manuel şekilde oluşturma</a:t>
            </a:r>
            <a:endParaRPr lang="tr-TR" sz="1200" dirty="0"/>
          </a:p>
          <a:p>
            <a:r>
              <a:rPr lang="tr-TR" dirty="0" smtClean="0"/>
              <a:t>Burada </a:t>
            </a:r>
            <a:r>
              <a:rPr lang="tr-TR" dirty="0"/>
              <a:t>durum diyagramı üzerinde duracağız.</a:t>
            </a:r>
            <a:endParaRPr lang="tr-TR" sz="1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8664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Durum diyagramı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 smtClean="0"/>
              <a:t>Bir durum geçiş diyagramı veya kısaca sadece durum diyagramı, yönlendirilmiş bir </a:t>
            </a:r>
            <a:r>
              <a:rPr lang="tr-TR" dirty="0" err="1" smtClean="0"/>
              <a:t>graftır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	Durum diyagramındaki düğümler, durum adlarıyla etiketlenir Oklar, hareketleri isim şeklinde içerir</a:t>
            </a:r>
          </a:p>
          <a:p>
            <a:r>
              <a:rPr lang="tr-TR" dirty="0" smtClean="0"/>
              <a:t>Sözcük analizciler için kullanılan formun durum diyagramları, sonlu otomata denilen matematiksel makinaların bir örneğidir</a:t>
            </a:r>
          </a:p>
          <a:p>
            <a:r>
              <a:rPr lang="tr-TR" dirty="0" smtClean="0"/>
              <a:t>Çoğu durumda, durum diyagramını basitleştirmek için geçişler birleştirilebilir</a:t>
            </a:r>
          </a:p>
          <a:p>
            <a:r>
              <a:rPr lang="tr-TR" dirty="0" smtClean="0"/>
              <a:t>Bir tanımlayıcıyı tanırken, tüm büyük ve küçük harfler eşdeğer varsayalım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smtClean="0"/>
              <a:t>Tüm harfleri içeren bir karakter sınıfı kullanılmalı</a:t>
            </a:r>
          </a:p>
          <a:p>
            <a:r>
              <a:rPr lang="tr-TR" dirty="0" smtClean="0"/>
              <a:t>Bir tamsayı değişmezi tanınırken, tüm basamaklar (</a:t>
            </a:r>
            <a:r>
              <a:rPr lang="tr-TR" dirty="0" err="1" smtClean="0"/>
              <a:t>digits</a:t>
            </a:r>
            <a:r>
              <a:rPr lang="tr-TR" dirty="0" smtClean="0"/>
              <a:t>) eşdeğer varsayalım</a:t>
            </a:r>
          </a:p>
          <a:p>
            <a:pPr lvl="1"/>
            <a:r>
              <a:rPr lang="tr-TR" dirty="0" smtClean="0"/>
              <a:t>Bir basamak sınıfı kullanılmalı</a:t>
            </a:r>
          </a:p>
          <a:p>
            <a:r>
              <a:rPr lang="tr-TR" dirty="0" smtClean="0"/>
              <a:t>Ayrılmış sözcükler ve tanımlayıcılar birlikte tanınabilir</a:t>
            </a:r>
          </a:p>
          <a:p>
            <a:r>
              <a:rPr lang="tr-TR" dirty="0" smtClean="0"/>
              <a:t>Olası bir tanımlayıcının aslında ayrılmış bir kelime (</a:t>
            </a:r>
            <a:r>
              <a:rPr lang="tr-TR" dirty="0" err="1" smtClean="0"/>
              <a:t>reverved</a:t>
            </a:r>
            <a:r>
              <a:rPr lang="tr-TR" dirty="0" smtClean="0"/>
              <a:t> </a:t>
            </a:r>
            <a:r>
              <a:rPr lang="tr-TR" dirty="0" err="1" smtClean="0"/>
              <a:t>words</a:t>
            </a:r>
            <a:r>
              <a:rPr lang="tr-TR" dirty="0" smtClean="0"/>
              <a:t>) olup olmadığını belirlemek için bir tablo araması kullanılmalı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71996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z="3200" dirty="0" err="1" smtClean="0"/>
              <a:t>Sözcüksel</a:t>
            </a:r>
            <a:r>
              <a:rPr lang="tr-TR" sz="3200" dirty="0" smtClean="0"/>
              <a:t> </a:t>
            </a:r>
            <a:r>
              <a:rPr lang="tr-TR" sz="3200" dirty="0"/>
              <a:t>(</a:t>
            </a:r>
            <a:r>
              <a:rPr lang="en-US" sz="3200" dirty="0"/>
              <a:t>Lexical</a:t>
            </a:r>
            <a:r>
              <a:rPr lang="tr-TR" sz="3200" dirty="0"/>
              <a:t>)</a:t>
            </a:r>
            <a:r>
              <a:rPr lang="en-US" sz="3200" dirty="0"/>
              <a:t> </a:t>
            </a:r>
            <a:r>
              <a:rPr lang="en-US" sz="3200" dirty="0" err="1"/>
              <a:t>Anali</a:t>
            </a:r>
            <a:r>
              <a:rPr lang="tr-TR" sz="3200" dirty="0"/>
              <a:t>z</a:t>
            </a:r>
            <a:r>
              <a:rPr lang="en-US" sz="3200" dirty="0"/>
              <a:t> (</a:t>
            </a:r>
            <a:r>
              <a:rPr lang="en-US" sz="3200" dirty="0" err="1"/>
              <a:t>Devamı</a:t>
            </a:r>
            <a:r>
              <a:rPr lang="en-US" sz="3200" dirty="0"/>
              <a:t>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dirty="0" smtClean="0"/>
              <a:t>Kullanışlı yardımcı altprogramlar</a:t>
            </a:r>
            <a:r>
              <a:rPr lang="en-US" dirty="0" smtClean="0"/>
              <a:t>:</a:t>
            </a:r>
          </a:p>
          <a:p>
            <a:pPr lvl="1" eaLnBrk="1" hangingPunct="1"/>
            <a:r>
              <a:rPr lang="en-US" b="1" dirty="0" err="1" smtClean="0">
                <a:latin typeface="Courier New" pitchFamily="49" charset="0"/>
              </a:rPr>
              <a:t>getChar</a:t>
            </a:r>
            <a:r>
              <a:rPr lang="en-US" dirty="0" smtClean="0"/>
              <a:t> – </a:t>
            </a:r>
            <a:r>
              <a:rPr lang="tr-TR" dirty="0" smtClean="0"/>
              <a:t>girdinin sonraki karakterini alır</a:t>
            </a:r>
            <a:r>
              <a:rPr lang="en-US" dirty="0" smtClean="0"/>
              <a:t>, </a:t>
            </a:r>
            <a:r>
              <a:rPr lang="tr-TR" dirty="0" smtClean="0"/>
              <a:t>bunu</a:t>
            </a:r>
            <a:r>
              <a:rPr lang="en-US" dirty="0" smtClean="0"/>
              <a:t> </a:t>
            </a:r>
            <a:r>
              <a:rPr lang="en-US" b="1" dirty="0" err="1" smtClean="0">
                <a:latin typeface="Courier New" pitchFamily="49" charset="0"/>
              </a:rPr>
              <a:t>nextChar</a:t>
            </a:r>
            <a:r>
              <a:rPr lang="tr-TR" b="1" dirty="0" smtClean="0"/>
              <a:t> </a:t>
            </a:r>
            <a:r>
              <a:rPr lang="tr-TR" dirty="0" smtClean="0"/>
              <a:t>içine koyar, sınıfını belirler ve sınıfı </a:t>
            </a:r>
            <a:r>
              <a:rPr lang="en-US" b="1" dirty="0" err="1" smtClean="0">
                <a:latin typeface="Courier New" pitchFamily="49" charset="0"/>
              </a:rPr>
              <a:t>charClass</a:t>
            </a:r>
            <a:r>
              <a:rPr lang="tr-TR" b="1" dirty="0" smtClean="0"/>
              <a:t> </a:t>
            </a:r>
            <a:r>
              <a:rPr lang="tr-TR" dirty="0" smtClean="0"/>
              <a:t>içine koyar</a:t>
            </a:r>
            <a:endParaRPr lang="en-US" b="1" dirty="0" smtClean="0"/>
          </a:p>
          <a:p>
            <a:pPr lvl="1" eaLnBrk="1" hangingPunct="1"/>
            <a:r>
              <a:rPr lang="en-US" b="1" dirty="0" err="1" smtClean="0">
                <a:latin typeface="Courier New" pitchFamily="49" charset="0"/>
              </a:rPr>
              <a:t>addChar</a:t>
            </a:r>
            <a:r>
              <a:rPr lang="en-US" dirty="0" smtClean="0"/>
              <a:t> - </a:t>
            </a:r>
            <a:r>
              <a:rPr lang="en-US" b="1" dirty="0" err="1" smtClean="0">
                <a:latin typeface="Courier New" pitchFamily="49" charset="0"/>
              </a:rPr>
              <a:t>nextChar</a:t>
            </a:r>
            <a:r>
              <a:rPr lang="en-US" dirty="0" smtClean="0"/>
              <a:t> </a:t>
            </a:r>
            <a:r>
              <a:rPr lang="tr-TR" dirty="0" smtClean="0"/>
              <a:t>dan gelen karakteri </a:t>
            </a:r>
            <a:r>
              <a:rPr lang="tr-TR" dirty="0" err="1" smtClean="0">
                <a:solidFill>
                  <a:srgbClr val="990000"/>
                </a:solidFill>
              </a:rPr>
              <a:t>lexeme</a:t>
            </a:r>
            <a:r>
              <a:rPr lang="tr-TR" dirty="0" err="1" smtClean="0"/>
              <a:t>nin</a:t>
            </a:r>
            <a:r>
              <a:rPr lang="tr-TR" dirty="0" smtClean="0"/>
              <a:t> biriktirildiği yere koyar</a:t>
            </a:r>
            <a:r>
              <a:rPr lang="en-US" dirty="0" smtClean="0"/>
              <a:t> </a:t>
            </a:r>
            <a:r>
              <a:rPr lang="tr-TR" dirty="0" smtClean="0"/>
              <a:t>(</a:t>
            </a:r>
            <a:r>
              <a:rPr lang="en-US" b="1" dirty="0" smtClean="0">
                <a:latin typeface="Courier New" pitchFamily="49" charset="0"/>
              </a:rPr>
              <a:t>lexeme</a:t>
            </a:r>
            <a:r>
              <a:rPr lang="tr-TR" b="1" dirty="0" smtClean="0">
                <a:latin typeface="Courier New" pitchFamily="49" charset="0"/>
              </a:rPr>
              <a:t> </a:t>
            </a:r>
            <a:r>
              <a:rPr lang="tr-TR" dirty="0" smtClean="0"/>
              <a:t>dizisinin sonuna ekler)</a:t>
            </a:r>
            <a:endParaRPr lang="en-US" dirty="0" smtClean="0"/>
          </a:p>
          <a:p>
            <a:pPr lvl="1" eaLnBrk="1" hangingPunct="1"/>
            <a:r>
              <a:rPr lang="tr-TR" dirty="0" smtClean="0"/>
              <a:t>Arama (l</a:t>
            </a:r>
            <a:r>
              <a:rPr lang="en-US" dirty="0" err="1" smtClean="0"/>
              <a:t>ookup</a:t>
            </a:r>
            <a:r>
              <a:rPr lang="tr-TR" dirty="0" smtClean="0"/>
              <a:t>)</a:t>
            </a:r>
            <a:r>
              <a:rPr lang="en-US" dirty="0" smtClean="0"/>
              <a:t> - </a:t>
            </a:r>
            <a:r>
              <a:rPr lang="en-US" b="1" dirty="0" smtClean="0">
                <a:latin typeface="Courier New" pitchFamily="49" charset="0"/>
              </a:rPr>
              <a:t>lexeme</a:t>
            </a:r>
            <a:r>
              <a:rPr lang="en-US" dirty="0" smtClean="0"/>
              <a:t> </a:t>
            </a:r>
            <a:r>
              <a:rPr lang="tr-TR" dirty="0" smtClean="0"/>
              <a:t>deki </a:t>
            </a:r>
            <a:r>
              <a:rPr lang="tr-TR" dirty="0" err="1" smtClean="0"/>
              <a:t>stringin</a:t>
            </a:r>
            <a:r>
              <a:rPr lang="tr-TR" dirty="0" smtClean="0"/>
              <a:t> ayrılmış sözcük (</a:t>
            </a:r>
            <a:r>
              <a:rPr lang="tr-TR" dirty="0" err="1" smtClean="0"/>
              <a:t>reserved</a:t>
            </a:r>
            <a:r>
              <a:rPr lang="tr-TR" dirty="0" smtClean="0"/>
              <a:t> </a:t>
            </a:r>
            <a:r>
              <a:rPr lang="tr-TR" dirty="0" err="1" smtClean="0"/>
              <a:t>word</a:t>
            </a:r>
            <a:r>
              <a:rPr lang="tr-TR" dirty="0" smtClean="0"/>
              <a:t>) olup olmadığını belirler ve onun</a:t>
            </a:r>
            <a:r>
              <a:rPr lang="en-US" dirty="0" smtClean="0"/>
              <a:t> </a:t>
            </a:r>
            <a:r>
              <a:rPr lang="tr-TR" dirty="0" smtClean="0"/>
              <a:t>kodunu döndürür</a:t>
            </a:r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3DD315-A67C-47CA-AE6A-1091AC8A6610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9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smtClean="0"/>
              <a:t>Durum Diyagramı (</a:t>
            </a:r>
            <a:r>
              <a:rPr lang="en-US" smtClean="0"/>
              <a:t>State Diagram</a:t>
            </a:r>
            <a:r>
              <a:rPr lang="tr-TR" smtClean="0"/>
              <a:t>)</a:t>
            </a:r>
            <a:endParaRPr lang="en-US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AA9EE-45A9-4F39-941E-9C9CEEBDBCAB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4 Dikdörtgen"/>
          <p:cNvSpPr/>
          <p:nvPr/>
        </p:nvSpPr>
        <p:spPr>
          <a:xfrm>
            <a:off x="1676400" y="6400800"/>
            <a:ext cx="8839200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r-TR" dirty="0"/>
              <a:t>Adları, parantezleri ve aritmetik operatörleri tanıyan bir durum diyagramı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 contrast="10000"/>
          </a:blip>
          <a:srcRect/>
          <a:stretch>
            <a:fillRect/>
          </a:stretch>
        </p:blipFill>
        <p:spPr bwMode="auto">
          <a:xfrm>
            <a:off x="2590801" y="1201727"/>
            <a:ext cx="6791325" cy="52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6353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4.2 </a:t>
            </a:r>
            <a:r>
              <a:rPr lang="tr-TR" sz="3200" dirty="0" err="1"/>
              <a:t>Sözcüksel</a:t>
            </a:r>
            <a:r>
              <a:rPr lang="tr-TR" sz="3200" dirty="0"/>
              <a:t> (</a:t>
            </a:r>
            <a:r>
              <a:rPr lang="en-US" sz="3200" dirty="0"/>
              <a:t>Lexical</a:t>
            </a:r>
            <a:r>
              <a:rPr lang="tr-TR" sz="3200" dirty="0"/>
              <a:t>)</a:t>
            </a:r>
            <a:r>
              <a:rPr lang="en-US" sz="3200" dirty="0"/>
              <a:t> </a:t>
            </a:r>
            <a:r>
              <a:rPr lang="en-US" sz="3200" dirty="0" err="1"/>
              <a:t>Anali</a:t>
            </a:r>
            <a:r>
              <a:rPr lang="tr-TR" sz="3200" dirty="0"/>
              <a:t>z</a:t>
            </a:r>
            <a:r>
              <a:rPr lang="en-US" sz="3200" dirty="0"/>
              <a:t> (</a:t>
            </a:r>
            <a:r>
              <a:rPr lang="en-US" sz="3200" dirty="0" err="1"/>
              <a:t>Devamı</a:t>
            </a:r>
            <a:r>
              <a:rPr lang="en-US" sz="3200" dirty="0"/>
              <a:t>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371600"/>
            <a:ext cx="8458200" cy="4572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implementasyon (</a:t>
            </a:r>
            <a:r>
              <a:rPr lang="tr-TR" sz="2400" dirty="0"/>
              <a:t>başlatma varsayalım</a:t>
            </a:r>
            <a:r>
              <a:rPr lang="en-US" sz="2400" dirty="0"/>
              <a:t>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lex</a:t>
            </a:r>
            <a:r>
              <a:rPr lang="en-US" sz="1800" b="1" dirty="0">
                <a:latin typeface="Courier New" pitchFamily="49" charset="0"/>
              </a:rPr>
              <a:t>()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</a:t>
            </a:r>
            <a:r>
              <a:rPr lang="en-US" sz="1800" b="1" dirty="0" err="1">
                <a:latin typeface="Courier New" pitchFamily="49" charset="0"/>
              </a:rPr>
              <a:t>getChar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switch (</a:t>
            </a:r>
            <a:r>
              <a:rPr lang="en-US" sz="1800" b="1" dirty="0" err="1">
                <a:latin typeface="Courier New" pitchFamily="49" charset="0"/>
              </a:rPr>
              <a:t>charClass</a:t>
            </a:r>
            <a:r>
              <a:rPr lang="en-US" sz="1800" b="1" dirty="0">
                <a:latin typeface="Courier New" pitchFamily="49" charset="0"/>
              </a:rPr>
              <a:t>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case LETTER: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</a:t>
            </a:r>
            <a:r>
              <a:rPr lang="en-US" sz="1800" b="1" dirty="0" err="1">
                <a:latin typeface="Courier New" pitchFamily="49" charset="0"/>
              </a:rPr>
              <a:t>addChar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</a:t>
            </a:r>
            <a:r>
              <a:rPr lang="en-US" sz="1800" b="1" dirty="0" err="1">
                <a:latin typeface="Courier New" pitchFamily="49" charset="0"/>
              </a:rPr>
              <a:t>getChar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while (</a:t>
            </a:r>
            <a:r>
              <a:rPr lang="en-US" sz="1800" b="1" dirty="0" err="1">
                <a:latin typeface="Courier New" pitchFamily="49" charset="0"/>
              </a:rPr>
              <a:t>charClass</a:t>
            </a:r>
            <a:r>
              <a:rPr lang="en-US" sz="1800" b="1" dirty="0">
                <a:latin typeface="Courier New" pitchFamily="49" charset="0"/>
              </a:rPr>
              <a:t> == LETTER || </a:t>
            </a:r>
            <a:r>
              <a:rPr lang="en-US" sz="1800" b="1" dirty="0" err="1">
                <a:latin typeface="Courier New" pitchFamily="49" charset="0"/>
              </a:rPr>
              <a:t>charClass</a:t>
            </a:r>
            <a:r>
              <a:rPr lang="en-US" sz="1800" b="1" dirty="0">
                <a:latin typeface="Courier New" pitchFamily="49" charset="0"/>
              </a:rPr>
              <a:t> == DIGIT)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  </a:t>
            </a:r>
            <a:r>
              <a:rPr lang="en-US" sz="1800" b="1" dirty="0" err="1">
                <a:latin typeface="Courier New" pitchFamily="49" charset="0"/>
              </a:rPr>
              <a:t>addChar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  </a:t>
            </a:r>
            <a:r>
              <a:rPr lang="en-US" sz="1800" b="1" dirty="0" err="1">
                <a:latin typeface="Courier New" pitchFamily="49" charset="0"/>
              </a:rPr>
              <a:t>getChar</a:t>
            </a:r>
            <a:r>
              <a:rPr lang="en-US" sz="1800" b="1" dirty="0"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return lookup(lexeme);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urier New" pitchFamily="49" charset="0"/>
              </a:rPr>
              <a:t>      break;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/>
              <a:t>…</a:t>
            </a:r>
            <a:endParaRPr lang="en-US" sz="2400" b="1" dirty="0">
              <a:latin typeface="Courier New" pitchFamily="49" charset="0"/>
            </a:endParaRP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42F87E-A441-4999-AAAC-8D197DF32440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3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4.2 </a:t>
            </a:r>
            <a:r>
              <a:rPr lang="tr-TR" sz="3200"/>
              <a:t>Sözcüksel (</a:t>
            </a:r>
            <a:r>
              <a:rPr lang="en-US" sz="3200"/>
              <a:t>Lexical</a:t>
            </a:r>
            <a:r>
              <a:rPr lang="tr-TR" sz="3200"/>
              <a:t>)</a:t>
            </a:r>
            <a:r>
              <a:rPr lang="en-US" sz="3200"/>
              <a:t> Anali</a:t>
            </a:r>
            <a:r>
              <a:rPr lang="tr-TR" sz="3200"/>
              <a:t>z </a:t>
            </a:r>
            <a:r>
              <a:rPr lang="en-US" sz="3200"/>
              <a:t>(Devamı)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6600" y="1371600"/>
            <a:ext cx="7239000" cy="4876800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b="1" dirty="0" smtClean="0"/>
              <a:t>…</a:t>
            </a:r>
            <a:endParaRPr lang="en-US" b="1" dirty="0" smtClean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case DIGIT: 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dirty="0" err="1">
                <a:latin typeface="Courier New" pitchFamily="49" charset="0"/>
              </a:rPr>
              <a:t>addChar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dirty="0" err="1">
                <a:latin typeface="Courier New" pitchFamily="49" charset="0"/>
              </a:rPr>
              <a:t>getChar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while (</a:t>
            </a:r>
            <a:r>
              <a:rPr lang="en-US" sz="2000" b="1" dirty="0" err="1">
                <a:latin typeface="Courier New" pitchFamily="49" charset="0"/>
              </a:rPr>
              <a:t>charClass</a:t>
            </a:r>
            <a:r>
              <a:rPr lang="en-US" sz="2000" b="1" dirty="0">
                <a:latin typeface="Courier New" pitchFamily="49" charset="0"/>
              </a:rPr>
              <a:t> == DIGIT) {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  </a:t>
            </a:r>
            <a:r>
              <a:rPr lang="en-US" sz="2000" b="1" dirty="0" err="1">
                <a:latin typeface="Courier New" pitchFamily="49" charset="0"/>
              </a:rPr>
              <a:t>addChar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  </a:t>
            </a:r>
            <a:r>
              <a:rPr lang="en-US" sz="2000" b="1" dirty="0" err="1">
                <a:latin typeface="Courier New" pitchFamily="49" charset="0"/>
              </a:rPr>
              <a:t>getChar</a:t>
            </a:r>
            <a:r>
              <a:rPr lang="en-US" sz="2000" b="1" dirty="0">
                <a:latin typeface="Courier New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}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return INT_LIT;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  break;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  }  /* switch</a:t>
            </a:r>
            <a:r>
              <a:rPr lang="tr-TR" sz="2000" b="1" dirty="0">
                <a:latin typeface="Courier New" pitchFamily="49" charset="0"/>
              </a:rPr>
              <a:t>’in sonu</a:t>
            </a:r>
            <a:r>
              <a:rPr lang="en-US" sz="2000" b="1" dirty="0">
                <a:latin typeface="Courier New" pitchFamily="49" charset="0"/>
              </a:rPr>
              <a:t> */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}  /* </a:t>
            </a:r>
            <a:r>
              <a:rPr lang="en-US" sz="2000" b="1" dirty="0" err="1">
                <a:latin typeface="Courier New" pitchFamily="49" charset="0"/>
              </a:rPr>
              <a:t>lex</a:t>
            </a:r>
            <a:r>
              <a:rPr lang="tr-TR" sz="2000" b="1" dirty="0">
                <a:latin typeface="Courier New" pitchFamily="49" charset="0"/>
              </a:rPr>
              <a:t> fonksiyonunun sonu</a:t>
            </a:r>
            <a:r>
              <a:rPr lang="en-US" sz="2000" b="1" dirty="0">
                <a:latin typeface="Courier New" pitchFamily="49" charset="0"/>
              </a:rPr>
              <a:t> */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6BA79D-4D7D-458E-BDF0-E7F4C997F58F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9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Sözcüksel (</a:t>
            </a:r>
            <a:r>
              <a:rPr lang="en-US" smtClean="0"/>
              <a:t>Lexical</a:t>
            </a:r>
            <a:r>
              <a:rPr lang="tr-TR" smtClean="0"/>
              <a:t>)</a:t>
            </a:r>
            <a:r>
              <a:rPr lang="en-US" smtClean="0"/>
              <a:t> Anali</a:t>
            </a:r>
            <a:r>
              <a:rPr lang="tr-TR" smtClean="0"/>
              <a:t>z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B454C4-6CCA-4BBA-8A16-207CE244333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3124201" y="1752600"/>
            <a:ext cx="6388287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 New" pitchFamily="49" charset="0"/>
              </a:rPr>
              <a:t>program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</a:rPr>
              <a:t>gcd</a:t>
            </a:r>
            <a:r>
              <a:rPr lang="en-US" altLang="en-US" dirty="0">
                <a:latin typeface="Courier New" pitchFamily="49" charset="0"/>
              </a:rPr>
              <a:t> (input, output);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b="1" dirty="0" err="1">
                <a:latin typeface="Courier New" pitchFamily="49" charset="0"/>
              </a:rPr>
              <a:t>var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, j : </a:t>
            </a:r>
            <a:r>
              <a:rPr lang="en-US" altLang="en-US" b="1" dirty="0">
                <a:latin typeface="Courier New" pitchFamily="49" charset="0"/>
              </a:rPr>
              <a:t>integer</a:t>
            </a:r>
            <a:r>
              <a:rPr lang="en-US" altLang="en-US" dirty="0">
                <a:latin typeface="Courier New" pitchFamily="49" charset="0"/>
              </a:rPr>
              <a:t>;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b="1" dirty="0">
                <a:latin typeface="Courier New" pitchFamily="49" charset="0"/>
              </a:rPr>
              <a:t>begin</a:t>
            </a:r>
            <a:br>
              <a:rPr lang="en-US" altLang="en-US" b="1" dirty="0">
                <a:latin typeface="Courier New" pitchFamily="49" charset="0"/>
              </a:rPr>
            </a:br>
            <a:r>
              <a:rPr lang="en-US" altLang="en-US" dirty="0">
                <a:latin typeface="Courier New" pitchFamily="49" charset="0"/>
              </a:rPr>
              <a:t>  read (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, j);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dirty="0">
                <a:latin typeface="Courier New" pitchFamily="49" charset="0"/>
              </a:rPr>
              <a:t>  </a:t>
            </a:r>
            <a:r>
              <a:rPr lang="en-US" altLang="en-US" b="1" dirty="0">
                <a:latin typeface="Courier New" pitchFamily="49" charset="0"/>
              </a:rPr>
              <a:t>while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 &lt;&gt; j </a:t>
            </a:r>
            <a:r>
              <a:rPr lang="en-US" altLang="en-US" b="1" dirty="0">
                <a:latin typeface="Courier New" pitchFamily="49" charset="0"/>
              </a:rPr>
              <a:t>do</a:t>
            </a:r>
            <a:br>
              <a:rPr lang="en-US" altLang="en-US" b="1" dirty="0">
                <a:latin typeface="Courier New" pitchFamily="49" charset="0"/>
              </a:rPr>
            </a:br>
            <a:r>
              <a:rPr lang="en-US" altLang="en-US" dirty="0">
                <a:latin typeface="Courier New" pitchFamily="49" charset="0"/>
              </a:rPr>
              <a:t>    </a:t>
            </a:r>
            <a:r>
              <a:rPr lang="en-US" altLang="en-US" b="1" dirty="0">
                <a:latin typeface="Courier New" pitchFamily="49" charset="0"/>
              </a:rPr>
              <a:t>if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 &gt; j </a:t>
            </a:r>
            <a:r>
              <a:rPr lang="en-US" altLang="en-US" b="1" dirty="0">
                <a:latin typeface="Courier New" pitchFamily="49" charset="0"/>
              </a:rPr>
              <a:t>then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 := 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 - j </a:t>
            </a:r>
            <a:r>
              <a:rPr lang="en-US" altLang="en-US" b="1" dirty="0">
                <a:latin typeface="Courier New" pitchFamily="49" charset="0"/>
              </a:rPr>
              <a:t>else</a:t>
            </a:r>
            <a:r>
              <a:rPr lang="en-US" altLang="en-US" dirty="0">
                <a:latin typeface="Courier New" pitchFamily="49" charset="0"/>
              </a:rPr>
              <a:t> j := j - 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;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dirty="0">
                <a:latin typeface="Courier New" pitchFamily="49" charset="0"/>
              </a:rPr>
              <a:t>  </a:t>
            </a:r>
            <a:r>
              <a:rPr lang="en-US" altLang="en-US" dirty="0" err="1">
                <a:latin typeface="Courier New" pitchFamily="49" charset="0"/>
              </a:rPr>
              <a:t>writeln</a:t>
            </a:r>
            <a:r>
              <a:rPr lang="en-US" altLang="en-US" dirty="0">
                <a:latin typeface="Courier New" pitchFamily="49" charset="0"/>
              </a:rPr>
              <a:t> (</a:t>
            </a:r>
            <a:r>
              <a:rPr lang="en-US" altLang="en-US" dirty="0" err="1">
                <a:latin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</a:rPr>
              <a:t>)</a:t>
            </a:r>
            <a:br>
              <a:rPr lang="en-US" altLang="en-US" dirty="0">
                <a:latin typeface="Courier New" pitchFamily="49" charset="0"/>
              </a:rPr>
            </a:br>
            <a:r>
              <a:rPr lang="en-US" altLang="en-US" b="1" dirty="0">
                <a:latin typeface="Courier New" pitchFamily="49" charset="0"/>
              </a:rPr>
              <a:t>end</a:t>
            </a:r>
            <a:r>
              <a:rPr lang="en-US" altLang="en-US" dirty="0">
                <a:latin typeface="Courier New" pitchFamily="49" charset="0"/>
              </a:rPr>
              <a:t>.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2438400" y="4657726"/>
            <a:ext cx="7629012" cy="2031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r>
              <a:rPr lang="en-US" altLang="en-US" b="1">
                <a:latin typeface="Courier New" pitchFamily="49" charset="0"/>
              </a:rPr>
              <a:t>program</a:t>
            </a:r>
            <a:r>
              <a:rPr lang="en-US" altLang="en-US">
                <a:latin typeface="Courier New" pitchFamily="49" charset="0"/>
              </a:rPr>
              <a:t>  gcd   (    input  ,    output    )      ;</a:t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 b="1">
                <a:latin typeface="Courier New" pitchFamily="49" charset="0"/>
              </a:rPr>
              <a:t>var</a:t>
            </a:r>
            <a:r>
              <a:rPr lang="en-US" altLang="en-US">
                <a:latin typeface="Courier New" pitchFamily="49" charset="0"/>
              </a:rPr>
              <a:t>      i     ,    j      :    </a:t>
            </a:r>
            <a:r>
              <a:rPr lang="en-US" altLang="en-US" b="1">
                <a:latin typeface="Courier New" pitchFamily="49" charset="0"/>
              </a:rPr>
              <a:t>integer   </a:t>
            </a:r>
            <a:r>
              <a:rPr lang="en-US" altLang="en-US">
                <a:latin typeface="Courier New" pitchFamily="49" charset="0"/>
              </a:rPr>
              <a:t>;      </a:t>
            </a:r>
            <a:r>
              <a:rPr lang="en-US" altLang="en-US" b="1">
                <a:latin typeface="Courier New" pitchFamily="49" charset="0"/>
              </a:rPr>
              <a:t>begin</a:t>
            </a:r>
            <a:br>
              <a:rPr lang="en-US" altLang="en-US" b="1">
                <a:latin typeface="Courier New" pitchFamily="49" charset="0"/>
              </a:rPr>
            </a:br>
            <a:r>
              <a:rPr lang="en-US" altLang="en-US">
                <a:latin typeface="Courier New" pitchFamily="49" charset="0"/>
              </a:rPr>
              <a:t>read     (     i    ,      j    )         ;      </a:t>
            </a:r>
            <a:r>
              <a:rPr lang="en-US" altLang="en-US" b="1">
                <a:latin typeface="Courier New" pitchFamily="49" charset="0"/>
              </a:rPr>
              <a:t>while</a:t>
            </a:r>
            <a:br>
              <a:rPr lang="en-US" altLang="en-US" b="1">
                <a:latin typeface="Courier New" pitchFamily="49" charset="0"/>
              </a:rPr>
            </a:br>
            <a:r>
              <a:rPr lang="en-US" altLang="en-US">
                <a:latin typeface="Courier New" pitchFamily="49" charset="0"/>
              </a:rPr>
              <a:t>i        &lt;&gt;    j    </a:t>
            </a:r>
            <a:r>
              <a:rPr lang="en-US" altLang="en-US" b="1">
                <a:latin typeface="Courier New" pitchFamily="49" charset="0"/>
              </a:rPr>
              <a:t>do     if</a:t>
            </a:r>
            <a:r>
              <a:rPr lang="en-US" altLang="en-US">
                <a:latin typeface="Courier New" pitchFamily="49" charset="0"/>
              </a:rPr>
              <a:t>   i         &gt;      j</a:t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 b="1">
                <a:latin typeface="Courier New" pitchFamily="49" charset="0"/>
              </a:rPr>
              <a:t>then    </a:t>
            </a:r>
            <a:r>
              <a:rPr lang="en-US" altLang="en-US">
                <a:latin typeface="Courier New" pitchFamily="49" charset="0"/>
              </a:rPr>
              <a:t> i     :=   i      -    j         </a:t>
            </a:r>
            <a:r>
              <a:rPr lang="en-US" altLang="en-US" b="1">
                <a:latin typeface="Courier New" pitchFamily="49" charset="0"/>
              </a:rPr>
              <a:t>else  </a:t>
            </a:r>
            <a:r>
              <a:rPr lang="en-US" altLang="en-US">
                <a:latin typeface="Courier New" pitchFamily="49" charset="0"/>
              </a:rPr>
              <a:t> j</a:t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>
                <a:latin typeface="Courier New" pitchFamily="49" charset="0"/>
              </a:rPr>
              <a:t>:=       i     -    i      ;    writeln   (      i</a:t>
            </a:r>
            <a:br>
              <a:rPr lang="en-US" altLang="en-US">
                <a:latin typeface="Courier New" pitchFamily="49" charset="0"/>
              </a:rPr>
            </a:br>
            <a:r>
              <a:rPr lang="en-US" altLang="en-US">
                <a:latin typeface="Courier New" pitchFamily="49" charset="0"/>
              </a:rPr>
              <a:t>)        </a:t>
            </a:r>
            <a:r>
              <a:rPr lang="en-US" altLang="en-US" b="1">
                <a:latin typeface="Courier New" pitchFamily="49" charset="0"/>
              </a:rPr>
              <a:t>end   </a:t>
            </a:r>
            <a:r>
              <a:rPr lang="en-US" altLang="en-US">
                <a:latin typeface="Courier New" pitchFamily="49" charset="0"/>
              </a:rPr>
              <a:t>.</a:t>
            </a:r>
          </a:p>
        </p:txBody>
      </p:sp>
      <p:sp>
        <p:nvSpPr>
          <p:cNvPr id="40966" name="AutoShape 6"/>
          <p:cNvSpPr>
            <a:spLocks noChangeArrowheads="1"/>
          </p:cNvSpPr>
          <p:nvPr/>
        </p:nvSpPr>
        <p:spPr bwMode="auto">
          <a:xfrm>
            <a:off x="5715000" y="4114800"/>
            <a:ext cx="838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18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dirty="0" smtClean="0"/>
              <a:t>Ayrıştırma (</a:t>
            </a:r>
            <a:r>
              <a:rPr lang="en-US" dirty="0" smtClean="0"/>
              <a:t>Parsing</a:t>
            </a:r>
            <a:r>
              <a:rPr lang="tr-TR" dirty="0" smtClean="0"/>
              <a:t>)</a:t>
            </a:r>
            <a:r>
              <a:rPr lang="en-US" dirty="0" smtClean="0"/>
              <a:t> Problem</a:t>
            </a:r>
            <a:r>
              <a:rPr lang="tr-TR" dirty="0" smtClean="0"/>
              <a:t>i</a:t>
            </a:r>
            <a:endParaRPr lang="en-US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dirty="0" smtClean="0"/>
              <a:t>Ayrıştırıcının amaçları</a:t>
            </a:r>
            <a:r>
              <a:rPr lang="en-US" dirty="0" smtClean="0"/>
              <a:t>, </a:t>
            </a:r>
            <a:r>
              <a:rPr lang="tr-TR" dirty="0" smtClean="0"/>
              <a:t>bir girdi programı verildiğinde</a:t>
            </a:r>
            <a:r>
              <a:rPr lang="en-US" dirty="0" smtClean="0"/>
              <a:t>:</a:t>
            </a:r>
          </a:p>
          <a:p>
            <a:pPr lvl="1" eaLnBrk="1" hangingPunct="1"/>
            <a:r>
              <a:rPr lang="tr-TR" dirty="0" smtClean="0"/>
              <a:t>Bütün sentaks hatalarını bulur</a:t>
            </a:r>
            <a:r>
              <a:rPr lang="en-US" dirty="0" smtClean="0"/>
              <a:t>; </a:t>
            </a:r>
            <a:r>
              <a:rPr lang="tr-TR" dirty="0" smtClean="0"/>
              <a:t>her birisi için</a:t>
            </a:r>
            <a:r>
              <a:rPr lang="en-US" dirty="0" smtClean="0"/>
              <a:t>, </a:t>
            </a:r>
            <a:r>
              <a:rPr lang="tr-TR" dirty="0" smtClean="0"/>
              <a:t>uygun bir tanılayıcı (iyileştirici) mesaj üretir</a:t>
            </a:r>
            <a:r>
              <a:rPr lang="en-US" dirty="0" smtClean="0"/>
              <a:t>, </a:t>
            </a:r>
            <a:r>
              <a:rPr lang="tr-TR" dirty="0" smtClean="0"/>
              <a:t>ve gerekirse düzeltmeler yapar</a:t>
            </a:r>
            <a:endParaRPr lang="en-US" dirty="0" smtClean="0"/>
          </a:p>
          <a:p>
            <a:pPr lvl="1" eaLnBrk="1" hangingPunct="1"/>
            <a:r>
              <a:rPr lang="tr-TR" dirty="0" smtClean="0"/>
              <a:t>Ayrıştırma ağacını üretir</a:t>
            </a:r>
            <a:r>
              <a:rPr lang="en-US" dirty="0" smtClean="0"/>
              <a:t>, </a:t>
            </a:r>
            <a:r>
              <a:rPr lang="tr-TR" dirty="0" smtClean="0"/>
              <a:t>veya</a:t>
            </a:r>
            <a:r>
              <a:rPr lang="en-US" dirty="0" smtClean="0"/>
              <a:t> </a:t>
            </a:r>
            <a:r>
              <a:rPr lang="tr-TR" dirty="0" smtClean="0"/>
              <a:t>en azından program için ayrıştırma ağacının izini (dökümünü) üretir</a:t>
            </a:r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732AD8A-9442-4C7D-9CF6-B74669EEE959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84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1371600"/>
          </a:xfrm>
        </p:spPr>
        <p:txBody>
          <a:bodyPr/>
          <a:lstStyle/>
          <a:p>
            <a:pPr eaLnBrk="1" hangingPunct="1"/>
            <a:r>
              <a:rPr lang="tr-TR" dirty="0" smtClean="0"/>
              <a:t>Ayrıştırma (</a:t>
            </a:r>
            <a:r>
              <a:rPr lang="en-US" dirty="0" smtClean="0"/>
              <a:t>Parsing</a:t>
            </a:r>
            <a:r>
              <a:rPr lang="tr-TR" dirty="0" smtClean="0"/>
              <a:t>)</a:t>
            </a:r>
            <a:r>
              <a:rPr lang="en-US" dirty="0" smtClean="0"/>
              <a:t> Problem</a:t>
            </a:r>
            <a:r>
              <a:rPr lang="tr-TR" dirty="0" smtClean="0"/>
              <a:t>i</a:t>
            </a:r>
            <a:r>
              <a:rPr lang="en-US" dirty="0" smtClean="0"/>
              <a:t> </a:t>
            </a:r>
            <a:r>
              <a:rPr lang="tr-TR" dirty="0" smtClean="0"/>
              <a:t>				</a:t>
            </a:r>
            <a:r>
              <a:rPr lang="en-US" dirty="0" smtClean="0"/>
              <a:t>(</a:t>
            </a:r>
            <a:r>
              <a:rPr lang="en-US" dirty="0" err="1" smtClean="0"/>
              <a:t>Devamı</a:t>
            </a:r>
            <a:r>
              <a:rPr lang="en-US" dirty="0" smtClean="0"/>
              <a:t>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sz="2400" dirty="0"/>
              <a:t>A</a:t>
            </a:r>
            <a:r>
              <a:rPr lang="en-US" sz="2400" dirty="0" err="1"/>
              <a:t>yrıştırıcı</a:t>
            </a:r>
            <a:r>
              <a:rPr lang="tr-TR" sz="2400" dirty="0" err="1"/>
              <a:t>ların</a:t>
            </a:r>
            <a:r>
              <a:rPr lang="tr-TR" sz="2400" dirty="0"/>
              <a:t> iki kategorisi:</a:t>
            </a:r>
            <a:endParaRPr lang="en-US" sz="2400" dirty="0"/>
          </a:p>
          <a:p>
            <a:pPr lvl="1" eaLnBrk="1" hangingPunct="1"/>
            <a:r>
              <a:rPr lang="tr-TR" sz="2000" dirty="0">
                <a:solidFill>
                  <a:schemeClr val="accent2"/>
                </a:solidFill>
              </a:rPr>
              <a:t>Yukarıdan-aşağıya (</a:t>
            </a:r>
            <a:r>
              <a:rPr lang="en-US" sz="2000" dirty="0">
                <a:solidFill>
                  <a:schemeClr val="accent2"/>
                </a:solidFill>
              </a:rPr>
              <a:t>Top down</a:t>
            </a:r>
            <a:r>
              <a:rPr lang="tr-TR" sz="2000" dirty="0">
                <a:solidFill>
                  <a:schemeClr val="accent2"/>
                </a:solidFill>
              </a:rPr>
              <a:t>)</a:t>
            </a:r>
            <a:r>
              <a:rPr lang="en-US" sz="2000" dirty="0"/>
              <a:t> - </a:t>
            </a:r>
            <a:r>
              <a:rPr lang="en-US" sz="2000" dirty="0" err="1"/>
              <a:t>ayrıştırma</a:t>
            </a:r>
            <a:r>
              <a:rPr lang="en-US" sz="2000" dirty="0"/>
              <a:t> </a:t>
            </a:r>
            <a:r>
              <a:rPr lang="en-US" sz="2000" dirty="0" err="1"/>
              <a:t>ağacı</a:t>
            </a:r>
            <a:r>
              <a:rPr lang="tr-TR" sz="2000" dirty="0" err="1"/>
              <a:t>nı</a:t>
            </a:r>
            <a:r>
              <a:rPr lang="tr-TR" sz="2000" dirty="0"/>
              <a:t> </a:t>
            </a:r>
            <a:r>
              <a:rPr lang="en-US" sz="2000" dirty="0" err="1"/>
              <a:t>kök</a:t>
            </a:r>
            <a:r>
              <a:rPr lang="tr-TR" sz="2000" dirty="0"/>
              <a:t>ten başlayarak oluşturur</a:t>
            </a:r>
            <a:endParaRPr lang="en-US" sz="2000" dirty="0"/>
          </a:p>
          <a:p>
            <a:pPr lvl="2" eaLnBrk="1" hangingPunct="1"/>
            <a:r>
              <a:rPr lang="tr-TR" sz="1900" dirty="0"/>
              <a:t>A</a:t>
            </a:r>
            <a:r>
              <a:rPr lang="en-US" sz="1900" dirty="0" err="1"/>
              <a:t>yrıştırma</a:t>
            </a:r>
            <a:r>
              <a:rPr lang="en-US" sz="1900" dirty="0"/>
              <a:t> </a:t>
            </a:r>
            <a:r>
              <a:rPr lang="en-US" sz="1900" dirty="0" err="1"/>
              <a:t>ağacı</a:t>
            </a:r>
            <a:r>
              <a:rPr lang="tr-TR" sz="1900" dirty="0" err="1"/>
              <a:t>nı</a:t>
            </a:r>
            <a:r>
              <a:rPr lang="tr-TR" sz="1900" dirty="0"/>
              <a:t> </a:t>
            </a:r>
            <a:r>
              <a:rPr lang="en-US" sz="1900" dirty="0">
                <a:solidFill>
                  <a:srgbClr val="990000"/>
                </a:solidFill>
              </a:rPr>
              <a:t>preorder</a:t>
            </a:r>
            <a:r>
              <a:rPr lang="tr-TR" sz="1900" dirty="0"/>
              <a:t>da izler veya oluşturur</a:t>
            </a:r>
            <a:endParaRPr lang="en-US" sz="1900" dirty="0"/>
          </a:p>
          <a:p>
            <a:pPr lvl="1" eaLnBrk="1" hangingPunct="1"/>
            <a:r>
              <a:rPr lang="tr-TR" sz="2000" dirty="0">
                <a:solidFill>
                  <a:schemeClr val="accent2"/>
                </a:solidFill>
              </a:rPr>
              <a:t> Aşağıdan-yukarıya (</a:t>
            </a:r>
            <a:r>
              <a:rPr lang="en-US" sz="2000" dirty="0">
                <a:solidFill>
                  <a:schemeClr val="accent2"/>
                </a:solidFill>
              </a:rPr>
              <a:t>Bottom up</a:t>
            </a:r>
            <a:r>
              <a:rPr lang="tr-TR" sz="2000" dirty="0">
                <a:solidFill>
                  <a:schemeClr val="accent2"/>
                </a:solidFill>
              </a:rPr>
              <a:t>)</a:t>
            </a:r>
            <a:r>
              <a:rPr lang="en-US" sz="2000" dirty="0"/>
              <a:t> - </a:t>
            </a:r>
            <a:r>
              <a:rPr lang="en-US" sz="2000" dirty="0" err="1"/>
              <a:t>ayrıştırma</a:t>
            </a:r>
            <a:r>
              <a:rPr lang="en-US" sz="2000" dirty="0"/>
              <a:t> </a:t>
            </a:r>
            <a:r>
              <a:rPr lang="en-US" sz="2000" dirty="0" err="1"/>
              <a:t>ağacı</a:t>
            </a:r>
            <a:r>
              <a:rPr lang="tr-TR" sz="2000" dirty="0" err="1"/>
              <a:t>nı</a:t>
            </a:r>
            <a:r>
              <a:rPr lang="en-US" sz="2000" dirty="0"/>
              <a:t>, </a:t>
            </a:r>
            <a:r>
              <a:rPr lang="tr-TR" sz="2000" dirty="0"/>
              <a:t>yapraklardan başlayarak oluşturur</a:t>
            </a:r>
            <a:endParaRPr lang="en-US" sz="2000" dirty="0"/>
          </a:p>
          <a:p>
            <a:pPr eaLnBrk="1" hangingPunct="1"/>
            <a:r>
              <a:rPr lang="tr-TR" sz="2400" dirty="0"/>
              <a:t>A</a:t>
            </a:r>
            <a:r>
              <a:rPr lang="en-US" sz="2400" dirty="0" err="1"/>
              <a:t>yrıştırıcı</a:t>
            </a:r>
            <a:r>
              <a:rPr lang="tr-TR" sz="2400" dirty="0" err="1"/>
              <a:t>lar</a:t>
            </a:r>
            <a:r>
              <a:rPr lang="tr-TR" sz="2400" dirty="0"/>
              <a:t>,</a:t>
            </a:r>
            <a:r>
              <a:rPr lang="en-US" sz="2400" dirty="0"/>
              <a:t> </a:t>
            </a:r>
            <a:r>
              <a:rPr lang="tr-TR" sz="2400" dirty="0"/>
              <a:t>girdide sadece bir jeton (</a:t>
            </a:r>
            <a:r>
              <a:rPr lang="tr-TR" sz="2400" dirty="0" err="1"/>
              <a:t>token</a:t>
            </a:r>
            <a:r>
              <a:rPr lang="tr-TR" sz="2400" dirty="0"/>
              <a:t>) ileriye bakar</a:t>
            </a:r>
            <a:endParaRPr lang="en-US" sz="2400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EAB374-67E0-48B8-9828-0C3629B0DBF2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153400" cy="1371600"/>
          </a:xfrm>
        </p:spPr>
        <p:txBody>
          <a:bodyPr/>
          <a:lstStyle/>
          <a:p>
            <a:pPr eaLnBrk="1" hangingPunct="1"/>
            <a:r>
              <a:rPr lang="tr-TR" dirty="0" smtClean="0"/>
              <a:t>Ayrıştırma (</a:t>
            </a:r>
            <a:r>
              <a:rPr lang="en-US" dirty="0" smtClean="0"/>
              <a:t>Parsing</a:t>
            </a:r>
            <a:r>
              <a:rPr lang="tr-TR" dirty="0" smtClean="0"/>
              <a:t>)</a:t>
            </a:r>
            <a:r>
              <a:rPr lang="en-US" dirty="0" smtClean="0"/>
              <a:t> Problem</a:t>
            </a:r>
            <a:r>
              <a:rPr lang="tr-TR" dirty="0" smtClean="0"/>
              <a:t>i</a:t>
            </a:r>
            <a:r>
              <a:rPr lang="en-US" dirty="0" smtClean="0"/>
              <a:t> </a:t>
            </a:r>
            <a:r>
              <a:rPr lang="tr-TR" dirty="0" smtClean="0"/>
              <a:t>				</a:t>
            </a:r>
            <a:r>
              <a:rPr lang="en-US" dirty="0" smtClean="0"/>
              <a:t>(</a:t>
            </a:r>
            <a:r>
              <a:rPr lang="en-US" dirty="0" err="1" smtClean="0"/>
              <a:t>Devamı</a:t>
            </a:r>
            <a:r>
              <a:rPr lang="en-US" dirty="0" smtClean="0"/>
              <a:t>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371600"/>
            <a:ext cx="8534400" cy="5029200"/>
          </a:xfrm>
        </p:spPr>
        <p:txBody>
          <a:bodyPr/>
          <a:lstStyle/>
          <a:p>
            <a:pPr eaLnBrk="1" hangingPunct="1"/>
            <a:r>
              <a:rPr lang="en-US" sz="2400" dirty="0" err="1">
                <a:solidFill>
                  <a:srgbClr val="7030A0"/>
                </a:solidFill>
              </a:rPr>
              <a:t>Yukarıdan-aşağıya</a:t>
            </a:r>
            <a:r>
              <a:rPr lang="tr-TR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ayrıştırıcı</a:t>
            </a:r>
            <a:r>
              <a:rPr lang="tr-TR" sz="2400" dirty="0" err="1">
                <a:solidFill>
                  <a:srgbClr val="7030A0"/>
                </a:solidFill>
              </a:rPr>
              <a:t>lar</a:t>
            </a:r>
            <a:r>
              <a:rPr lang="tr-TR" sz="2400" dirty="0">
                <a:solidFill>
                  <a:srgbClr val="7030A0"/>
                </a:solidFill>
              </a:rPr>
              <a:t> </a:t>
            </a:r>
            <a:r>
              <a:rPr lang="en-US" sz="2400" dirty="0">
                <a:solidFill>
                  <a:srgbClr val="7030A0"/>
                </a:solidFill>
              </a:rPr>
              <a:t>(Top-down</a:t>
            </a:r>
            <a:r>
              <a:rPr lang="tr-TR" sz="2400" dirty="0">
                <a:solidFill>
                  <a:srgbClr val="7030A0"/>
                </a:solidFill>
              </a:rPr>
              <a:t> </a:t>
            </a:r>
            <a:r>
              <a:rPr lang="en-US" sz="2400" dirty="0">
                <a:solidFill>
                  <a:srgbClr val="7030A0"/>
                </a:solidFill>
              </a:rPr>
              <a:t>parser</a:t>
            </a:r>
            <a:r>
              <a:rPr lang="tr-TR" sz="2400" dirty="0">
                <a:solidFill>
                  <a:srgbClr val="7030A0"/>
                </a:solidFill>
              </a:rPr>
              <a:t>s</a:t>
            </a:r>
            <a:r>
              <a:rPr lang="en-US" sz="2400" dirty="0">
                <a:solidFill>
                  <a:srgbClr val="7030A0"/>
                </a:solidFill>
              </a:rPr>
              <a:t>)</a:t>
            </a:r>
          </a:p>
          <a:p>
            <a:pPr lvl="1" eaLnBrk="1" hangingPunct="1"/>
            <a:r>
              <a:rPr lang="tr-TR" sz="2000" dirty="0"/>
              <a:t>Bir </a:t>
            </a:r>
            <a:r>
              <a:rPr lang="en-US" sz="2000" dirty="0" err="1"/>
              <a:t>xA</a:t>
            </a:r>
            <a:r>
              <a:rPr lang="en-US" sz="2000" dirty="0">
                <a:sym typeface="Symbol" pitchFamily="18" charset="2"/>
              </a:rPr>
              <a:t></a:t>
            </a:r>
            <a:r>
              <a:rPr lang="en-US" sz="2000" dirty="0"/>
              <a:t> </a:t>
            </a:r>
            <a:r>
              <a:rPr lang="tr-TR" sz="2000" dirty="0"/>
              <a:t> sağ cümlesel formu (</a:t>
            </a:r>
            <a:r>
              <a:rPr lang="en-US" sz="2000" dirty="0"/>
              <a:t>right sentential form</a:t>
            </a:r>
            <a:r>
              <a:rPr lang="tr-TR" sz="2000" dirty="0"/>
              <a:t>) verildiğinde</a:t>
            </a:r>
            <a:r>
              <a:rPr lang="en-US" sz="2000" dirty="0"/>
              <a:t> </a:t>
            </a:r>
            <a:r>
              <a:rPr lang="tr-TR" sz="2000" dirty="0"/>
              <a:t>,</a:t>
            </a:r>
            <a:r>
              <a:rPr lang="en-US" sz="2000" dirty="0"/>
              <a:t> </a:t>
            </a:r>
            <a:r>
              <a:rPr lang="en-US" sz="2000" dirty="0" err="1"/>
              <a:t>ayrıştırıcı</a:t>
            </a:r>
            <a:r>
              <a:rPr lang="tr-TR" sz="2000" dirty="0"/>
              <a:t>, sadece </a:t>
            </a:r>
            <a:r>
              <a:rPr lang="tr-TR" sz="2000" dirty="0" err="1"/>
              <a:t>A’nın</a:t>
            </a:r>
            <a:r>
              <a:rPr lang="tr-TR" sz="2000" dirty="0"/>
              <a:t> ürettiği ilk jetonu (</a:t>
            </a:r>
            <a:r>
              <a:rPr lang="en-US" sz="2000" dirty="0"/>
              <a:t>token</a:t>
            </a:r>
            <a:r>
              <a:rPr lang="tr-TR" sz="2000" dirty="0"/>
              <a:t>) kullanarak, </a:t>
            </a:r>
            <a:r>
              <a:rPr lang="tr-TR" sz="2000" dirty="0" err="1"/>
              <a:t>ensol</a:t>
            </a:r>
            <a:r>
              <a:rPr lang="tr-TR" sz="2000" dirty="0"/>
              <a:t> türevdeki (</a:t>
            </a:r>
            <a:r>
              <a:rPr lang="en-US" sz="2000" dirty="0"/>
              <a:t>leftmost derivation</a:t>
            </a:r>
            <a:r>
              <a:rPr lang="tr-TR" sz="2000" dirty="0"/>
              <a:t>)</a:t>
            </a:r>
            <a:r>
              <a:rPr lang="en-US" sz="2000" dirty="0"/>
              <a:t> </a:t>
            </a:r>
            <a:r>
              <a:rPr lang="tr-TR" sz="2000" dirty="0"/>
              <a:t>sonraki cümlesel formu (</a:t>
            </a:r>
            <a:r>
              <a:rPr lang="en-US" sz="2000" dirty="0"/>
              <a:t>sentential form </a:t>
            </a:r>
            <a:r>
              <a:rPr lang="tr-TR" sz="2000" dirty="0"/>
              <a:t>) elde etmek için doğru olan A-kuralını (</a:t>
            </a:r>
            <a:r>
              <a:rPr lang="en-US" sz="2000" dirty="0"/>
              <a:t>A-rule</a:t>
            </a:r>
            <a:r>
              <a:rPr lang="tr-TR" sz="2000" dirty="0"/>
              <a:t>) seçmelidir</a:t>
            </a:r>
            <a:endParaRPr lang="en-US" sz="2000" dirty="0"/>
          </a:p>
          <a:p>
            <a:pPr eaLnBrk="1" hangingPunct="1"/>
            <a:r>
              <a:rPr lang="tr-TR" sz="2400" dirty="0"/>
              <a:t>En yaygın</a:t>
            </a:r>
            <a:r>
              <a:rPr lang="en-US" sz="2400" dirty="0"/>
              <a:t> </a:t>
            </a:r>
            <a:r>
              <a:rPr lang="tr-TR" sz="2400" dirty="0"/>
              <a:t>y</a:t>
            </a:r>
            <a:r>
              <a:rPr lang="en-US" sz="2400" dirty="0" err="1"/>
              <a:t>ukarıdan-aşağıya</a:t>
            </a:r>
            <a:r>
              <a:rPr lang="tr-TR" sz="2400" dirty="0"/>
              <a:t> ayrıştırma </a:t>
            </a:r>
            <a:r>
              <a:rPr lang="en-US" sz="2400" dirty="0"/>
              <a:t>(</a:t>
            </a:r>
            <a:r>
              <a:rPr lang="tr-TR" sz="2400" dirty="0"/>
              <a:t>t</a:t>
            </a:r>
            <a:r>
              <a:rPr lang="en-US" sz="2400" dirty="0"/>
              <a:t>op-down parsing</a:t>
            </a:r>
            <a:r>
              <a:rPr lang="tr-TR" sz="2400" dirty="0"/>
              <a:t>) algoritmaları</a:t>
            </a:r>
            <a:r>
              <a:rPr lang="en-US" sz="2400" dirty="0"/>
              <a:t>:</a:t>
            </a:r>
          </a:p>
          <a:p>
            <a:pPr lvl="1" eaLnBrk="1" hangingPunct="1"/>
            <a:r>
              <a:rPr lang="tr-TR" sz="2000" dirty="0"/>
              <a:t>Ö</a:t>
            </a:r>
            <a:r>
              <a:rPr lang="en-US" sz="2000" dirty="0" err="1"/>
              <a:t>zyineli</a:t>
            </a:r>
            <a:r>
              <a:rPr lang="tr-TR" sz="2000" dirty="0"/>
              <a:t> </a:t>
            </a:r>
            <a:r>
              <a:rPr lang="en-US" sz="2000" dirty="0" err="1"/>
              <a:t>azalan</a:t>
            </a:r>
            <a:r>
              <a:rPr lang="tr-TR" sz="2000" dirty="0"/>
              <a:t> </a:t>
            </a:r>
            <a:r>
              <a:rPr lang="en-US" sz="2000" dirty="0"/>
              <a:t>(recursive-descent)- </a:t>
            </a:r>
            <a:r>
              <a:rPr lang="tr-TR" sz="2000" dirty="0"/>
              <a:t>kodlanmış bir</a:t>
            </a:r>
            <a:r>
              <a:rPr lang="en-US" sz="2000" dirty="0"/>
              <a:t> implementasyon</a:t>
            </a:r>
          </a:p>
          <a:p>
            <a:pPr lvl="1" eaLnBrk="1" hangingPunct="1"/>
            <a:r>
              <a:rPr lang="en-US" sz="2000" dirty="0"/>
              <a:t>LL </a:t>
            </a:r>
            <a:r>
              <a:rPr lang="en-US" sz="2000" dirty="0" err="1"/>
              <a:t>ayrıştırıcı</a:t>
            </a:r>
            <a:r>
              <a:rPr lang="tr-TR" sz="2000" dirty="0" err="1"/>
              <a:t>lar</a:t>
            </a:r>
            <a:r>
              <a:rPr lang="tr-TR" sz="2000" dirty="0"/>
              <a:t> </a:t>
            </a:r>
            <a:r>
              <a:rPr lang="en-US" sz="2000" dirty="0"/>
              <a:t>(parser) – </a:t>
            </a:r>
            <a:r>
              <a:rPr lang="tr-TR" sz="2000" dirty="0"/>
              <a:t>tablo sürümlü </a:t>
            </a:r>
            <a:r>
              <a:rPr lang="en-US" sz="2000" dirty="0"/>
              <a:t>implementasyon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B3B972-A673-4A4C-951B-3B61FA66DC4E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7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153400" cy="1371600"/>
          </a:xfrm>
        </p:spPr>
        <p:txBody>
          <a:bodyPr/>
          <a:lstStyle/>
          <a:p>
            <a:pPr eaLnBrk="1" hangingPunct="1"/>
            <a:r>
              <a:rPr lang="tr-TR" dirty="0" err="1" smtClean="0"/>
              <a:t>Özyineli</a:t>
            </a:r>
            <a:r>
              <a:rPr lang="tr-TR" dirty="0" smtClean="0"/>
              <a:t>-azalan Ayrıştırma 	(</a:t>
            </a:r>
            <a:r>
              <a:rPr lang="en-US" dirty="0" smtClean="0"/>
              <a:t>Recursive-Descent Parsing</a:t>
            </a:r>
            <a:r>
              <a:rPr lang="tr-TR" dirty="0" smtClean="0"/>
              <a:t>)</a:t>
            </a:r>
            <a:endParaRPr lang="en-US" dirty="0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0"/>
            <a:ext cx="8458200" cy="4572000"/>
          </a:xfrm>
        </p:spPr>
        <p:txBody>
          <a:bodyPr/>
          <a:lstStyle/>
          <a:p>
            <a:pPr algn="just" eaLnBrk="1" hangingPunct="1"/>
            <a:r>
              <a:rPr lang="tr-TR" dirty="0" smtClean="0"/>
              <a:t>Ö</a:t>
            </a:r>
            <a:r>
              <a:rPr lang="en-US" dirty="0" err="1" smtClean="0"/>
              <a:t>zyineli-azalan</a:t>
            </a:r>
            <a:r>
              <a:rPr lang="tr-TR" dirty="0" smtClean="0"/>
              <a:t> işlem </a:t>
            </a:r>
            <a:r>
              <a:rPr lang="en-US" dirty="0" smtClean="0"/>
              <a:t>(</a:t>
            </a:r>
            <a:r>
              <a:rPr lang="tr-TR" dirty="0" smtClean="0"/>
              <a:t>R</a:t>
            </a:r>
            <a:r>
              <a:rPr lang="en-US" dirty="0" err="1" smtClean="0"/>
              <a:t>ecursive</a:t>
            </a:r>
            <a:r>
              <a:rPr lang="en-US" dirty="0" smtClean="0"/>
              <a:t>-descent</a:t>
            </a:r>
            <a:r>
              <a:rPr lang="tr-TR" dirty="0" smtClean="0"/>
              <a:t> </a:t>
            </a:r>
            <a:r>
              <a:rPr lang="en-US" dirty="0" smtClean="0"/>
              <a:t>Process</a:t>
            </a:r>
            <a:r>
              <a:rPr lang="tr-TR" dirty="0" smtClean="0"/>
              <a:t>) (Yukarıdan-Aşağıya ayrıştırma yapar)</a:t>
            </a:r>
            <a:endParaRPr lang="en-US" dirty="0" smtClean="0"/>
          </a:p>
          <a:p>
            <a:pPr lvl="1" algn="just" eaLnBrk="1" hangingPunct="1"/>
            <a:r>
              <a:rPr lang="tr-TR" dirty="0" smtClean="0"/>
              <a:t>Gramerde her bir </a:t>
            </a:r>
            <a:r>
              <a:rPr lang="tr-TR" dirty="0" err="1" smtClean="0"/>
              <a:t>nonterminal</a:t>
            </a:r>
            <a:r>
              <a:rPr lang="tr-TR" dirty="0" smtClean="0"/>
              <a:t> için o </a:t>
            </a:r>
            <a:r>
              <a:rPr lang="tr-TR" dirty="0" err="1" smtClean="0"/>
              <a:t>nonterminal</a:t>
            </a:r>
            <a:r>
              <a:rPr lang="tr-TR" dirty="0" smtClean="0"/>
              <a:t> tarafından üretilebilen cümleleri ayrıştırabilen bir altprogram vardır</a:t>
            </a:r>
            <a:endParaRPr lang="en-US" dirty="0" smtClean="0"/>
          </a:p>
          <a:p>
            <a:pPr lvl="1" algn="just" eaLnBrk="1" hangingPunct="1"/>
            <a:r>
              <a:rPr lang="en-US" dirty="0" smtClean="0"/>
              <a:t>EBNF</a:t>
            </a:r>
            <a:r>
              <a:rPr lang="tr-TR" dirty="0" smtClean="0"/>
              <a:t>, </a:t>
            </a:r>
            <a:r>
              <a:rPr lang="en-US" dirty="0" err="1" smtClean="0"/>
              <a:t>özyineli-azalan</a:t>
            </a:r>
            <a:r>
              <a:rPr lang="tr-TR" dirty="0" smtClean="0"/>
              <a:t> </a:t>
            </a:r>
            <a:r>
              <a:rPr lang="en-US" dirty="0" err="1" smtClean="0"/>
              <a:t>ayrıştırıcı</a:t>
            </a:r>
            <a:r>
              <a:rPr lang="tr-TR" dirty="0" smtClean="0"/>
              <a:t>ya </a:t>
            </a:r>
            <a:r>
              <a:rPr lang="en-US" dirty="0" smtClean="0"/>
              <a:t>(recursive-descent</a:t>
            </a:r>
            <a:r>
              <a:rPr lang="tr-TR" dirty="0" smtClean="0"/>
              <a:t> </a:t>
            </a:r>
            <a:r>
              <a:rPr lang="en-US" dirty="0" smtClean="0"/>
              <a:t>parser)</a:t>
            </a:r>
            <a:r>
              <a:rPr lang="tr-TR" dirty="0" smtClean="0"/>
              <a:t> temel oluşturmak için idealdir</a:t>
            </a:r>
            <a:r>
              <a:rPr lang="en-US" dirty="0" smtClean="0"/>
              <a:t>, </a:t>
            </a:r>
            <a:r>
              <a:rPr lang="tr-TR" dirty="0" smtClean="0"/>
              <a:t>çünkü</a:t>
            </a:r>
            <a:r>
              <a:rPr lang="en-US" dirty="0" smtClean="0"/>
              <a:t> EBNF </a:t>
            </a:r>
            <a:r>
              <a:rPr lang="en-US" dirty="0" err="1" smtClean="0"/>
              <a:t>nonterminal</a:t>
            </a:r>
            <a:r>
              <a:rPr lang="tr-TR" dirty="0" smtClean="0"/>
              <a:t> sayısını minimize eder</a:t>
            </a:r>
            <a:endParaRPr lang="en-US" dirty="0" smtClean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4D01AE-239B-424B-96AC-126E1A09E4C3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5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458200" cy="1295400"/>
          </a:xfrm>
        </p:spPr>
        <p:txBody>
          <a:bodyPr/>
          <a:lstStyle/>
          <a:p>
            <a:pPr eaLnBrk="1" hangingPunct="1"/>
            <a:r>
              <a:rPr lang="tr-TR" sz="3200" dirty="0" err="1" smtClean="0"/>
              <a:t>Özyineli</a:t>
            </a:r>
            <a:r>
              <a:rPr lang="tr-TR" sz="3200" dirty="0" smtClean="0"/>
              <a:t>-azalan </a:t>
            </a:r>
            <a:r>
              <a:rPr lang="tr-TR" sz="3200" dirty="0"/>
              <a:t>Ayrıştırma (</a:t>
            </a:r>
            <a:r>
              <a:rPr lang="en-US" sz="3200" dirty="0"/>
              <a:t>Recursive-Descent Parsing</a:t>
            </a:r>
            <a:r>
              <a:rPr lang="tr-TR" sz="3200" dirty="0"/>
              <a:t>) </a:t>
            </a:r>
            <a:r>
              <a:rPr lang="en-US" sz="3200" dirty="0"/>
              <a:t>(</a:t>
            </a:r>
            <a:r>
              <a:rPr lang="en-US" sz="3200" dirty="0" err="1"/>
              <a:t>Devamı</a:t>
            </a:r>
            <a:r>
              <a:rPr lang="en-US" sz="3200" dirty="0"/>
              <a:t>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8305800" cy="4572000"/>
          </a:xfrm>
        </p:spPr>
        <p:txBody>
          <a:bodyPr/>
          <a:lstStyle/>
          <a:p>
            <a:pPr eaLnBrk="1" hangingPunct="1"/>
            <a:r>
              <a:rPr lang="tr-TR" dirty="0" smtClean="0"/>
              <a:t>Basit deyimler (</a:t>
            </a:r>
            <a:r>
              <a:rPr lang="en-US" dirty="0" smtClean="0"/>
              <a:t>expressions</a:t>
            </a:r>
            <a:r>
              <a:rPr lang="tr-TR" dirty="0" smtClean="0"/>
              <a:t>) için bir gramer</a:t>
            </a:r>
            <a:r>
              <a:rPr lang="en-US" dirty="0" smtClean="0"/>
              <a:t>: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</a:rPr>
              <a:t>expr</a:t>
            </a:r>
            <a:r>
              <a:rPr lang="en-US" sz="2000" b="1" dirty="0">
                <a:latin typeface="Courier New" pitchFamily="49" charset="0"/>
              </a:rPr>
              <a:t>&gt; </a:t>
            </a:r>
            <a:r>
              <a:rPr lang="en-US" sz="2000" b="1" dirty="0"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>
                <a:latin typeface="Courier New" pitchFamily="49" charset="0"/>
              </a:rPr>
              <a:t> &lt;term&gt; {(+ | -) &lt;term&gt;}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&lt;term&gt; </a:t>
            </a:r>
            <a:r>
              <a:rPr lang="en-US" sz="2000" b="1" dirty="0"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>
                <a:latin typeface="Courier New" pitchFamily="49" charset="0"/>
              </a:rPr>
              <a:t> &lt;factor&gt; {(* | /) &lt;factor&gt;}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latin typeface="Courier New" pitchFamily="49" charset="0"/>
              </a:rPr>
              <a:t>&lt;factor&gt; </a:t>
            </a:r>
            <a:r>
              <a:rPr lang="en-US" sz="2000" b="1" dirty="0"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>
                <a:latin typeface="Courier New" pitchFamily="49" charset="0"/>
              </a:rPr>
              <a:t> id | ( &lt;</a:t>
            </a:r>
            <a:r>
              <a:rPr lang="en-US" sz="2000" b="1" dirty="0" err="1">
                <a:latin typeface="Courier New" pitchFamily="49" charset="0"/>
              </a:rPr>
              <a:t>expr</a:t>
            </a:r>
            <a:r>
              <a:rPr lang="en-US" sz="2000" b="1" dirty="0">
                <a:latin typeface="Courier New" pitchFamily="49" charset="0"/>
              </a:rPr>
              <a:t>&gt; )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8DB947-B778-45D7-B697-ED6F2A8E9A97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01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458200" cy="1371600"/>
          </a:xfrm>
        </p:spPr>
        <p:txBody>
          <a:bodyPr/>
          <a:lstStyle/>
          <a:p>
            <a:pPr eaLnBrk="1" hangingPunct="1"/>
            <a:r>
              <a:rPr lang="tr-TR" sz="3200" dirty="0" err="1" smtClean="0"/>
              <a:t>Özyineli</a:t>
            </a:r>
            <a:r>
              <a:rPr lang="tr-TR" sz="3200" dirty="0" smtClean="0"/>
              <a:t>-azalan </a:t>
            </a:r>
            <a:r>
              <a:rPr lang="tr-TR" sz="3200" dirty="0"/>
              <a:t>Ayrıştırma     (</a:t>
            </a:r>
            <a:r>
              <a:rPr lang="en-US" sz="3200" dirty="0"/>
              <a:t>Recursive-Descent Parsing</a:t>
            </a:r>
            <a:r>
              <a:rPr lang="tr-TR" sz="3200" dirty="0"/>
              <a:t>) </a:t>
            </a:r>
            <a:r>
              <a:rPr lang="en-US" sz="3200" dirty="0"/>
              <a:t>(</a:t>
            </a:r>
            <a:r>
              <a:rPr lang="en-US" sz="3200" dirty="0" err="1"/>
              <a:t>Devamı</a:t>
            </a:r>
            <a:r>
              <a:rPr lang="en-US" sz="3200" dirty="0"/>
              <a:t>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sz="2400" b="1" dirty="0" err="1">
                <a:latin typeface="Courier New" pitchFamily="49" charset="0"/>
              </a:rPr>
              <a:t>Lex</a:t>
            </a:r>
            <a:r>
              <a:rPr lang="tr-TR" sz="2400" b="1" dirty="0"/>
              <a:t> </a:t>
            </a:r>
            <a:r>
              <a:rPr lang="tr-TR" sz="2400" dirty="0"/>
              <a:t>isimli, sonraki jeton kodunu </a:t>
            </a:r>
            <a:r>
              <a:rPr lang="en-US" sz="2400" b="1" dirty="0" err="1">
                <a:latin typeface="Courier New" pitchFamily="49" charset="0"/>
              </a:rPr>
              <a:t>nextToken</a:t>
            </a:r>
            <a:r>
              <a:rPr lang="tr-TR" sz="2400" b="1" dirty="0"/>
              <a:t> </a:t>
            </a:r>
            <a:r>
              <a:rPr lang="tr-TR" sz="2400" dirty="0"/>
              <a:t>içine koyan bir</a:t>
            </a:r>
            <a:r>
              <a:rPr lang="en-US" sz="2400" dirty="0"/>
              <a:t> </a:t>
            </a:r>
            <a:r>
              <a:rPr lang="tr-TR" sz="2400" dirty="0"/>
              <a:t>sözlüksel analizci (</a:t>
            </a:r>
            <a:r>
              <a:rPr lang="en-US" sz="2400" dirty="0"/>
              <a:t>lexical analyzer</a:t>
            </a:r>
            <a:r>
              <a:rPr lang="tr-TR" sz="2400" dirty="0"/>
              <a:t>)</a:t>
            </a:r>
            <a:r>
              <a:rPr lang="en-US" sz="2400" dirty="0"/>
              <a:t> </a:t>
            </a:r>
            <a:r>
              <a:rPr lang="tr-TR" sz="2400" dirty="0"/>
              <a:t>olduğunu varsayalım</a:t>
            </a:r>
            <a:endParaRPr lang="en-US" sz="2400" b="1" dirty="0">
              <a:latin typeface="Courier New" pitchFamily="49" charset="0"/>
            </a:endParaRPr>
          </a:p>
          <a:p>
            <a:pPr algn="just" eaLnBrk="1" hangingPunct="1"/>
            <a:r>
              <a:rPr lang="tr-TR" sz="2400" dirty="0"/>
              <a:t>Sadece bir sağdaki kısım (RHS) olduğunda kodlama işlemi</a:t>
            </a:r>
            <a:r>
              <a:rPr lang="en-US" sz="2400" dirty="0"/>
              <a:t>:</a:t>
            </a:r>
          </a:p>
          <a:p>
            <a:pPr lvl="1" algn="just" eaLnBrk="1" hangingPunct="1"/>
            <a:r>
              <a:rPr lang="tr-TR" sz="2000" dirty="0"/>
              <a:t>Sağdaki kısımda (RHS) olan her bir </a:t>
            </a:r>
            <a:r>
              <a:rPr lang="en-US" sz="2000" dirty="0"/>
              <a:t>terminal </a:t>
            </a:r>
            <a:r>
              <a:rPr lang="tr-TR" sz="2000" dirty="0"/>
              <a:t>sembol</a:t>
            </a:r>
            <a:r>
              <a:rPr lang="en-US" sz="2000" dirty="0"/>
              <a:t> </a:t>
            </a:r>
            <a:r>
              <a:rPr lang="tr-TR" sz="2000" dirty="0"/>
              <a:t>için</a:t>
            </a:r>
            <a:r>
              <a:rPr lang="en-US" sz="2000" dirty="0"/>
              <a:t>, </a:t>
            </a:r>
            <a:r>
              <a:rPr lang="tr-TR" sz="2000" dirty="0"/>
              <a:t>onu bir sonraki girdi jetonuyla karşılaştır</a:t>
            </a:r>
            <a:r>
              <a:rPr lang="en-US" sz="2000" dirty="0"/>
              <a:t>; </a:t>
            </a:r>
            <a:r>
              <a:rPr lang="tr-TR" sz="2000" dirty="0"/>
              <a:t>eğer eşleşiyorsa</a:t>
            </a:r>
            <a:r>
              <a:rPr lang="en-US" sz="2000" dirty="0"/>
              <a:t>, </a:t>
            </a:r>
            <a:r>
              <a:rPr lang="tr-TR" sz="2000" dirty="0"/>
              <a:t>devam et;</a:t>
            </a:r>
            <a:r>
              <a:rPr lang="en-US" sz="2000" dirty="0"/>
              <a:t> </a:t>
            </a:r>
            <a:r>
              <a:rPr lang="tr-TR" sz="2000" dirty="0"/>
              <a:t>değilse</a:t>
            </a:r>
            <a:r>
              <a:rPr lang="en-US" sz="2000" dirty="0"/>
              <a:t> </a:t>
            </a:r>
            <a:r>
              <a:rPr lang="tr-TR" sz="2000" dirty="0"/>
              <a:t>hata vardır</a:t>
            </a:r>
            <a:endParaRPr lang="en-US" sz="2000" dirty="0"/>
          </a:p>
          <a:p>
            <a:pPr lvl="1" algn="just" eaLnBrk="1" hangingPunct="1"/>
            <a:r>
              <a:rPr lang="tr-TR" sz="2000" dirty="0"/>
              <a:t>Sağdaki kısımda (RHS)</a:t>
            </a:r>
            <a:r>
              <a:rPr lang="en-US" sz="2000" dirty="0"/>
              <a:t> </a:t>
            </a:r>
            <a:r>
              <a:rPr lang="tr-TR" sz="2000" dirty="0"/>
              <a:t>her bir </a:t>
            </a:r>
            <a:r>
              <a:rPr lang="en-US" sz="2000" dirty="0" err="1"/>
              <a:t>nonterminal</a:t>
            </a:r>
            <a:r>
              <a:rPr lang="en-US" sz="2000" dirty="0"/>
              <a:t> </a:t>
            </a:r>
            <a:r>
              <a:rPr lang="tr-TR" sz="2000" dirty="0"/>
              <a:t>sembol için</a:t>
            </a:r>
            <a:r>
              <a:rPr lang="en-US" sz="2000" dirty="0"/>
              <a:t>, </a:t>
            </a:r>
            <a:r>
              <a:rPr lang="tr-TR" sz="2000" dirty="0"/>
              <a:t>o</a:t>
            </a:r>
            <a:r>
              <a:rPr lang="en-US" sz="2000" dirty="0"/>
              <a:t>nun</a:t>
            </a:r>
            <a:r>
              <a:rPr lang="tr-TR" sz="2000" dirty="0"/>
              <a:t>la</a:t>
            </a:r>
            <a:r>
              <a:rPr lang="en-US" sz="2000" dirty="0"/>
              <a:t> </a:t>
            </a:r>
            <a:r>
              <a:rPr lang="en-US" sz="2000" dirty="0" err="1"/>
              <a:t>ilgili</a:t>
            </a:r>
            <a:r>
              <a:rPr lang="en-US" sz="2000" dirty="0"/>
              <a:t> </a:t>
            </a:r>
            <a:r>
              <a:rPr lang="tr-TR" sz="2000" dirty="0"/>
              <a:t>ayrıştırıcı</a:t>
            </a:r>
            <a:r>
              <a:rPr lang="en-US" sz="2000" dirty="0"/>
              <a:t> alt </a:t>
            </a:r>
            <a:r>
              <a:rPr lang="en-US" sz="2000" dirty="0" err="1"/>
              <a:t>programını</a:t>
            </a:r>
            <a:r>
              <a:rPr lang="en-US" sz="2000" dirty="0"/>
              <a:t> </a:t>
            </a:r>
            <a:r>
              <a:rPr lang="en-US" sz="2000" dirty="0" err="1"/>
              <a:t>çağır</a:t>
            </a:r>
            <a:r>
              <a:rPr lang="tr-TR" sz="2000" dirty="0" err="1" smtClean="0"/>
              <a:t>ır</a:t>
            </a:r>
            <a:r>
              <a:rPr lang="tr-TR" sz="2000" dirty="0" smtClean="0"/>
              <a:t>.</a:t>
            </a:r>
            <a:endParaRPr lang="en-US" sz="2000" dirty="0"/>
          </a:p>
          <a:p>
            <a:pPr lvl="1" eaLnBrk="1" hangingPunct="1">
              <a:buFontTx/>
              <a:buNone/>
            </a:pPr>
            <a:endParaRPr lang="en-US" sz="2000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03B914-341C-40F9-AC35-BDDD2CB5281B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49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382000" cy="1371600"/>
          </a:xfrm>
        </p:spPr>
        <p:txBody>
          <a:bodyPr/>
          <a:lstStyle/>
          <a:p>
            <a:pPr eaLnBrk="1" hangingPunct="1"/>
            <a:r>
              <a:rPr lang="tr-TR" dirty="0" err="1" smtClean="0"/>
              <a:t>Özyineli</a:t>
            </a:r>
            <a:r>
              <a:rPr lang="tr-TR" dirty="0" smtClean="0"/>
              <a:t>-azalan Ayrıştırma (</a:t>
            </a:r>
            <a:r>
              <a:rPr lang="en-US" dirty="0" smtClean="0"/>
              <a:t>Recursive-Descent Parsing</a:t>
            </a:r>
            <a:r>
              <a:rPr lang="tr-TR" dirty="0" smtClean="0"/>
              <a:t>)</a:t>
            </a:r>
            <a:r>
              <a:rPr lang="en-US" dirty="0" smtClean="0"/>
              <a:t>(</a:t>
            </a:r>
            <a:r>
              <a:rPr lang="en-US" dirty="0" err="1" smtClean="0"/>
              <a:t>Devamı</a:t>
            </a:r>
            <a:r>
              <a:rPr lang="en-US" dirty="0" smtClean="0"/>
              <a:t>)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8FAAEFE-1A33-40EF-B346-54078A88832C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7" name="image21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654311" y="1825625"/>
            <a:ext cx="4883378" cy="4351338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234462" y="6017770"/>
            <a:ext cx="6096000" cy="8402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tr-TR" dirty="0"/>
              <a:t>Bu</a:t>
            </a:r>
            <a:r>
              <a:rPr lang="en-US" dirty="0"/>
              <a:t> </a:t>
            </a:r>
            <a:r>
              <a:rPr lang="tr-TR" dirty="0"/>
              <a:t>özel rutin hataları bulmaz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tr-TR" dirty="0"/>
              <a:t>Kural</a:t>
            </a:r>
            <a:r>
              <a:rPr lang="en-US" dirty="0"/>
              <a:t>: </a:t>
            </a:r>
            <a:r>
              <a:rPr lang="tr-TR" dirty="0"/>
              <a:t>Her ayrıştırma rutini</a:t>
            </a:r>
            <a:r>
              <a:rPr lang="en-US" dirty="0"/>
              <a:t> </a:t>
            </a:r>
            <a:r>
              <a:rPr lang="tr-TR" dirty="0"/>
              <a:t>sonraki jetonu </a:t>
            </a:r>
            <a:r>
              <a:rPr lang="en-US" b="1" dirty="0" err="1">
                <a:latin typeface="Courier New" pitchFamily="49" charset="0"/>
              </a:rPr>
              <a:t>nextToken</a:t>
            </a:r>
            <a:r>
              <a:rPr lang="tr-TR" b="1" dirty="0">
                <a:latin typeface="Courier New" pitchFamily="49" charset="0"/>
              </a:rPr>
              <a:t>’</a:t>
            </a:r>
            <a:r>
              <a:rPr lang="tr-TR" dirty="0"/>
              <a:t>da bırakır </a:t>
            </a:r>
            <a:endParaRPr lang="en-US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2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r-TR" dirty="0"/>
              <a:t>Birden fazla sağ tarafı (RHS) olan bir </a:t>
            </a:r>
            <a:r>
              <a:rPr lang="tr-TR" dirty="0" err="1"/>
              <a:t>non</a:t>
            </a:r>
            <a:r>
              <a:rPr lang="tr-TR" dirty="0"/>
              <a:t>-terminal hangi sağ tarafın ayrıştırılacağına karar vermek için bir başlangıç sürecine gereksinim duyar</a:t>
            </a:r>
            <a:endParaRPr lang="tr-TR" sz="1200" dirty="0"/>
          </a:p>
          <a:p>
            <a:pPr lvl="1" algn="just"/>
            <a:r>
              <a:rPr lang="tr-TR" dirty="0"/>
              <a:t>Doğru sağ taraf girdinin bir sonraki </a:t>
            </a:r>
            <a:r>
              <a:rPr lang="tr-TR" dirty="0" err="1"/>
              <a:t>token’ı</a:t>
            </a:r>
            <a:r>
              <a:rPr lang="tr-TR" dirty="0"/>
              <a:t> baz alınarak (ileri bakış) seçilir</a:t>
            </a:r>
            <a:endParaRPr lang="tr-TR" sz="1100" dirty="0"/>
          </a:p>
          <a:p>
            <a:pPr lvl="1" algn="just"/>
            <a:r>
              <a:rPr lang="tr-TR" dirty="0"/>
              <a:t>Bir sonraki </a:t>
            </a:r>
            <a:r>
              <a:rPr lang="tr-TR" dirty="0" err="1"/>
              <a:t>token</a:t>
            </a:r>
            <a:r>
              <a:rPr lang="tr-TR" dirty="0"/>
              <a:t> eşleşme bulunana kadar her sağ taraf, tarafından üretilen ilk </a:t>
            </a:r>
            <a:r>
              <a:rPr lang="tr-TR" dirty="0" err="1"/>
              <a:t>token’la</a:t>
            </a:r>
            <a:r>
              <a:rPr lang="tr-TR" dirty="0"/>
              <a:t> karşılaştırılır</a:t>
            </a:r>
            <a:endParaRPr lang="tr-TR" sz="1100" dirty="0"/>
          </a:p>
          <a:p>
            <a:pPr lvl="1" algn="just"/>
            <a:r>
              <a:rPr lang="tr-TR" dirty="0"/>
              <a:t>Eğer eşleşme bulunmazsa bu bir sözdizimi hatasıdır</a:t>
            </a:r>
            <a:endParaRPr lang="tr-TR" sz="11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94789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mage22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35543" y="1690688"/>
            <a:ext cx="5857143" cy="4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24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mage23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922822" y="1825625"/>
            <a:ext cx="63463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5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5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pPr>
              <a:defRPr/>
            </a:pPr>
            <a:fld id="{7706F49B-3B92-4398-9B87-6D9626B57D24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Shift-Reduce Parsing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219200"/>
            <a:ext cx="8382000" cy="45720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  <a:defRPr/>
            </a:pPr>
            <a:r>
              <a:rPr lang="tr-TR" sz="2400" dirty="0"/>
              <a:t>Aşağıdan Yukarıya ayrıştırma sadece iki tip </a:t>
            </a:r>
          </a:p>
          <a:p>
            <a:pPr>
              <a:buFontTx/>
              <a:buNone/>
              <a:defRPr/>
            </a:pPr>
            <a:r>
              <a:rPr lang="tr-TR" sz="2400" dirty="0"/>
              <a:t>hareket kullanır: </a:t>
            </a:r>
            <a:r>
              <a:rPr lang="en-US" sz="2400" i="1" dirty="0">
                <a:solidFill>
                  <a:srgbClr val="C00000"/>
                </a:solidFill>
              </a:rPr>
              <a:t>Shift</a:t>
            </a:r>
            <a:r>
              <a:rPr lang="tr-TR" sz="2400" i="1" dirty="0"/>
              <a:t> ve</a:t>
            </a:r>
            <a:r>
              <a:rPr lang="en-US" sz="2400" i="1" dirty="0">
                <a:solidFill>
                  <a:srgbClr val="C00000"/>
                </a:solidFill>
              </a:rPr>
              <a:t>Reduce</a:t>
            </a:r>
            <a:endParaRPr lang="tr-TR" sz="2400" i="1" dirty="0">
              <a:solidFill>
                <a:srgbClr val="C00000"/>
              </a:solidFill>
            </a:endParaRPr>
          </a:p>
          <a:p>
            <a:pPr>
              <a:buFontTx/>
              <a:buNone/>
              <a:defRPr/>
            </a:pPr>
            <a:endParaRPr lang="tr-TR" sz="2400" i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i="1" u="sng" dirty="0"/>
              <a:t>Shift</a:t>
            </a:r>
            <a:r>
              <a:rPr lang="en-US" sz="2400" i="1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|</a:t>
            </a:r>
            <a:r>
              <a:rPr lang="tr-TR" sz="2400" dirty="0"/>
              <a:t>’</a:t>
            </a:r>
            <a:r>
              <a:rPr lang="tr-TR" sz="2400" dirty="0" err="1"/>
              <a:t>yı</a:t>
            </a:r>
            <a:r>
              <a:rPr lang="tr-TR" sz="2400" dirty="0"/>
              <a:t> bir sağa hareket ettir</a:t>
            </a:r>
            <a:endParaRPr lang="en-US" sz="2400" dirty="0"/>
          </a:p>
          <a:p>
            <a:pPr lvl="1">
              <a:defRPr/>
            </a:pPr>
            <a:r>
              <a:rPr lang="tr-TR" dirty="0" smtClean="0"/>
              <a:t>Bir terminali sol alt </a:t>
            </a:r>
            <a:r>
              <a:rPr lang="tr-TR" dirty="0" err="1" smtClean="0"/>
              <a:t>stringe</a:t>
            </a:r>
            <a:r>
              <a:rPr lang="tr-TR" dirty="0" smtClean="0"/>
              <a:t> kaydır</a:t>
            </a:r>
            <a:endParaRPr lang="en-US" dirty="0" smtClean="0"/>
          </a:p>
          <a:p>
            <a:pPr algn="ctr">
              <a:buFontTx/>
              <a:buNone/>
              <a:defRPr/>
            </a:pPr>
            <a:r>
              <a:rPr lang="en-US" sz="2400" dirty="0" err="1">
                <a:solidFill>
                  <a:schemeClr val="accent2"/>
                </a:solidFill>
              </a:rPr>
              <a:t>ABC</a:t>
            </a:r>
            <a:r>
              <a:rPr lang="en-US" sz="2400" dirty="0" err="1">
                <a:solidFill>
                  <a:srgbClr val="FF0000"/>
                </a:solidFill>
              </a:rPr>
              <a:t>|</a:t>
            </a:r>
            <a:r>
              <a:rPr lang="en-US" sz="2400" dirty="0" err="1">
                <a:solidFill>
                  <a:schemeClr val="accent2"/>
                </a:solidFill>
              </a:rPr>
              <a:t>xyz</a:t>
            </a:r>
            <a:r>
              <a:rPr lang="en-US" sz="2400" dirty="0">
                <a:solidFill>
                  <a:schemeClr val="accent2"/>
                </a:solidFill>
              </a:rPr>
              <a:t>  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 </a:t>
            </a:r>
            <a:r>
              <a:rPr lang="en-US" sz="2400" dirty="0" err="1">
                <a:solidFill>
                  <a:schemeClr val="accent2"/>
                </a:solidFill>
              </a:rPr>
              <a:t>ABCx</a:t>
            </a:r>
            <a:r>
              <a:rPr lang="en-US" sz="2400" dirty="0" err="1">
                <a:solidFill>
                  <a:srgbClr val="FF0000"/>
                </a:solidFill>
              </a:rPr>
              <a:t>|</a:t>
            </a:r>
            <a:r>
              <a:rPr lang="en-US" sz="2400" dirty="0" err="1">
                <a:solidFill>
                  <a:schemeClr val="accent2"/>
                </a:solidFill>
              </a:rPr>
              <a:t>yz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endParaRPr lang="tr-TR" sz="2400" dirty="0">
              <a:solidFill>
                <a:schemeClr val="accent2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2400" dirty="0"/>
              <a:t>E + (</a:t>
            </a:r>
            <a:r>
              <a:rPr lang="tr-TR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|</a:t>
            </a:r>
            <a:r>
              <a:rPr lang="tr-TR" sz="2400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int</a:t>
            </a:r>
            <a:r>
              <a:rPr lang="tr-TR" sz="2400" dirty="0"/>
              <a:t> </a:t>
            </a:r>
            <a:r>
              <a:rPr lang="en-US" sz="2400" dirty="0"/>
              <a:t>)  </a:t>
            </a:r>
            <a:r>
              <a:rPr lang="en-US" sz="2400" dirty="0">
                <a:sym typeface="Symbol" pitchFamily="18" charset="2"/>
              </a:rPr>
              <a:t> </a:t>
            </a:r>
            <a:r>
              <a:rPr lang="en-US" sz="2400" dirty="0"/>
              <a:t>E + (</a:t>
            </a:r>
            <a:r>
              <a:rPr lang="tr-TR" sz="2400" dirty="0"/>
              <a:t> </a:t>
            </a:r>
            <a:r>
              <a:rPr lang="en-US" sz="2400" dirty="0" err="1"/>
              <a:t>int</a:t>
            </a:r>
            <a:r>
              <a:rPr lang="tr-TR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|</a:t>
            </a:r>
            <a:r>
              <a:rPr lang="tr-TR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)</a:t>
            </a:r>
            <a:endParaRPr lang="tr-TR" sz="2400" dirty="0"/>
          </a:p>
          <a:p>
            <a:pPr algn="ctr">
              <a:buFontTx/>
              <a:buNone/>
              <a:defRPr/>
            </a:pPr>
            <a:endParaRPr lang="tr-TR" sz="2400" dirty="0"/>
          </a:p>
          <a:p>
            <a:pPr>
              <a:defRPr/>
            </a:pPr>
            <a:r>
              <a:rPr lang="tr-TR" sz="2400" i="1" u="sng" dirty="0" err="1"/>
              <a:t>Reduce</a:t>
            </a:r>
            <a:r>
              <a:rPr lang="tr-TR" sz="2400" i="1" dirty="0"/>
              <a:t>: </a:t>
            </a:r>
            <a:r>
              <a:rPr lang="tr-TR" sz="2400" dirty="0"/>
              <a:t>Sol </a:t>
            </a:r>
            <a:r>
              <a:rPr lang="tr-TR" sz="2400" dirty="0" smtClean="0"/>
              <a:t>alt </a:t>
            </a:r>
            <a:r>
              <a:rPr lang="tr-TR" sz="2400" dirty="0" err="1" smtClean="0"/>
              <a:t>stringin</a:t>
            </a:r>
            <a:r>
              <a:rPr lang="tr-TR" sz="2400" dirty="0" smtClean="0"/>
              <a:t> </a:t>
            </a:r>
            <a:r>
              <a:rPr lang="tr-TR" sz="2400" dirty="0"/>
              <a:t>sağında </a:t>
            </a:r>
            <a:r>
              <a:rPr lang="tr-TR" sz="2400" i="1" dirty="0"/>
              <a:t>ters kural (üretim)</a:t>
            </a:r>
            <a:endParaRPr lang="en-US" sz="2400" dirty="0"/>
          </a:p>
          <a:p>
            <a:pPr lvl="1">
              <a:defRPr/>
            </a:pPr>
            <a:r>
              <a:rPr lang="en-US" dirty="0" smtClean="0"/>
              <a:t>A </a:t>
            </a:r>
            <a:r>
              <a:rPr lang="en-US" dirty="0" smtClean="0">
                <a:sym typeface="Symbol" pitchFamily="18" charset="2"/>
              </a:rPr>
              <a:t> </a:t>
            </a:r>
            <a:r>
              <a:rPr lang="en-US" dirty="0" err="1" smtClean="0">
                <a:sym typeface="Symbol" pitchFamily="18" charset="2"/>
              </a:rPr>
              <a:t>xy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tr-TR" dirty="0" smtClean="0">
                <a:sym typeface="Symbol" pitchFamily="18" charset="2"/>
              </a:rPr>
              <a:t>bir kuralsa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tr-TR" dirty="0" smtClean="0">
                <a:sym typeface="Symbol" pitchFamily="18" charset="2"/>
              </a:rPr>
              <a:t>o zaman</a:t>
            </a:r>
            <a:endParaRPr lang="en-US" dirty="0" smtClean="0"/>
          </a:p>
          <a:p>
            <a:pPr algn="ctr">
              <a:buFontTx/>
              <a:buNone/>
              <a:defRPr/>
            </a:pPr>
            <a:r>
              <a:rPr lang="en-US" sz="2400" dirty="0" err="1">
                <a:solidFill>
                  <a:schemeClr val="accent2"/>
                </a:solidFill>
              </a:rPr>
              <a:t>Cbxy</a:t>
            </a:r>
            <a:r>
              <a:rPr lang="en-US" sz="2400" dirty="0" err="1">
                <a:solidFill>
                  <a:srgbClr val="FF0000"/>
                </a:solidFill>
              </a:rPr>
              <a:t>|</a:t>
            </a:r>
            <a:r>
              <a:rPr lang="en-US" sz="2400" dirty="0" err="1">
                <a:solidFill>
                  <a:schemeClr val="accent2"/>
                </a:solidFill>
              </a:rPr>
              <a:t>ijk</a:t>
            </a:r>
            <a:r>
              <a:rPr lang="en-US" sz="2400" dirty="0">
                <a:solidFill>
                  <a:schemeClr val="accent2"/>
                </a:solidFill>
              </a:rPr>
              <a:t>  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 </a:t>
            </a:r>
            <a:r>
              <a:rPr lang="en-US" sz="2400" dirty="0" err="1">
                <a:solidFill>
                  <a:schemeClr val="accent2"/>
                </a:solidFill>
              </a:rPr>
              <a:t>CbA</a:t>
            </a:r>
            <a:r>
              <a:rPr lang="en-US" sz="2400" dirty="0" err="1">
                <a:solidFill>
                  <a:srgbClr val="FF0000"/>
                </a:solidFill>
              </a:rPr>
              <a:t>|</a:t>
            </a:r>
            <a:r>
              <a:rPr lang="en-US" sz="2400" dirty="0" err="1">
                <a:solidFill>
                  <a:schemeClr val="accent2"/>
                </a:solidFill>
              </a:rPr>
              <a:t>ijk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endParaRPr lang="tr-TR" sz="24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E </a:t>
            </a:r>
            <a:r>
              <a:rPr lang="en-US" dirty="0" smtClean="0">
                <a:sym typeface="Symbol" pitchFamily="18" charset="2"/>
              </a:rPr>
              <a:t> E + ( E ) </a:t>
            </a:r>
            <a:r>
              <a:rPr lang="tr-TR" dirty="0" smtClean="0">
                <a:sym typeface="Symbol" pitchFamily="18" charset="2"/>
              </a:rPr>
              <a:t>bir kuralsa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tr-TR" dirty="0" smtClean="0">
                <a:sym typeface="Symbol" pitchFamily="18" charset="2"/>
              </a:rPr>
              <a:t>o zaman</a:t>
            </a:r>
            <a:endParaRPr lang="en-US" dirty="0" smtClean="0"/>
          </a:p>
          <a:p>
            <a:pPr marL="0" indent="0" algn="ctr">
              <a:buNone/>
              <a:defRPr/>
            </a:pPr>
            <a:r>
              <a:rPr lang="en-US" sz="2400" dirty="0"/>
              <a:t>E + (</a:t>
            </a:r>
            <a:r>
              <a:rPr lang="en-US" sz="2400" u="sng" dirty="0"/>
              <a:t>E + ( E )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|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)  </a:t>
            </a:r>
            <a:r>
              <a:rPr lang="en-US" sz="2400" dirty="0">
                <a:sym typeface="Symbol" pitchFamily="18" charset="2"/>
              </a:rPr>
              <a:t> E +(</a:t>
            </a:r>
            <a:r>
              <a:rPr lang="en-US" sz="2400" u="sng" dirty="0">
                <a:sym typeface="Symbol" pitchFamily="18" charset="2"/>
              </a:rPr>
              <a:t>E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|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)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algn="just">
              <a:defRPr/>
            </a:pPr>
            <a:endParaRPr lang="en-US" i="1" dirty="0" smtClean="0"/>
          </a:p>
          <a:p>
            <a:pPr algn="ctr">
              <a:buFontTx/>
              <a:buNone/>
              <a:defRPr/>
            </a:pPr>
            <a:endParaRPr lang="en-US" dirty="0" smtClean="0">
              <a:solidFill>
                <a:schemeClr val="accent2"/>
              </a:solidFill>
            </a:endParaRPr>
          </a:p>
          <a:p>
            <a:pPr>
              <a:buFontTx/>
              <a:buNone/>
              <a:defRPr/>
            </a:pPr>
            <a:endParaRPr lang="en-US" i="1" dirty="0" smtClean="0">
              <a:solidFill>
                <a:srgbClr val="C00000"/>
              </a:solidFill>
            </a:endParaRPr>
          </a:p>
          <a:p>
            <a:pPr>
              <a:defRPr/>
            </a:pP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372020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58E414-F785-4D90-A0A5-FFDD3BC357D7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8458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dirty="0" smtClean="0"/>
              <a:t>Örnek : </a:t>
            </a:r>
            <a:r>
              <a:rPr lang="en-US" dirty="0" smtClean="0"/>
              <a:t>Shift-Reduce </a:t>
            </a:r>
            <a:r>
              <a:rPr lang="tr-TR" dirty="0" smtClean="0"/>
              <a:t>Ayrıştırma</a:t>
            </a:r>
            <a:r>
              <a:rPr lang="en-US" dirty="0" smtClean="0"/>
              <a:t> (1)</a:t>
            </a:r>
          </a:p>
        </p:txBody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47244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</p:txBody>
      </p:sp>
      <p:sp>
        <p:nvSpPr>
          <p:cNvPr id="116741" name="Text Box 4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6742" name="Text Box 5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16743" name="Text Box 6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16744" name="Text Box 7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6745" name="Text Box 8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6746" name="Text Box 9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6747" name="Text Box 10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6748" name="Text Box 11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6749" name="Text Box 12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6750" name="Line 13"/>
          <p:cNvSpPr>
            <a:spLocks noChangeShapeType="1"/>
          </p:cNvSpPr>
          <p:nvPr/>
        </p:nvSpPr>
        <p:spPr bwMode="auto">
          <a:xfrm>
            <a:off x="61722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16751" name="Rectangle 14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39637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C144BC-8C6E-40EC-99BE-A3BF39F9A112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47244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17766" name="Text Box 6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17767" name="Text Box 7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7768" name="Text Box 8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7770" name="Text Box 10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7772" name="Text Box 12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7773" name="Line 13"/>
          <p:cNvSpPr>
            <a:spLocks noChangeShapeType="1"/>
          </p:cNvSpPr>
          <p:nvPr/>
        </p:nvSpPr>
        <p:spPr bwMode="auto">
          <a:xfrm>
            <a:off x="69342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17774" name="Rectangle 14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  <p:sp>
        <p:nvSpPr>
          <p:cNvPr id="11777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458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2</a:t>
            </a:r>
            <a:r>
              <a:rPr lang="en-US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068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D8AEE4-3D4E-4038-8D7C-CE300C6A4C95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3</a:t>
            </a:r>
            <a:r>
              <a:rPr lang="en-US" smtClean="0"/>
              <a:t>)</a:t>
            </a:r>
          </a:p>
        </p:txBody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47244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</a:t>
            </a:r>
            <a:r>
              <a:rPr lang="tr-TR" sz="1800" dirty="0">
                <a:solidFill>
                  <a:srgbClr val="33CC33"/>
                </a:solidFill>
              </a:rPr>
              <a:t>3 kez</a:t>
            </a:r>
            <a:endParaRPr lang="en-US" sz="1800" dirty="0">
              <a:solidFill>
                <a:srgbClr val="33CC33"/>
              </a:solidFill>
            </a:endParaRPr>
          </a:p>
        </p:txBody>
      </p:sp>
      <p:sp>
        <p:nvSpPr>
          <p:cNvPr id="118789" name="Text Box 4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18790" name="Text Box 5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8791" name="Text Box 6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18792" name="AutoShape 7"/>
          <p:cNvCxnSpPr>
            <a:cxnSpLocks noChangeShapeType="1"/>
            <a:stCxn id="118789" idx="2"/>
            <a:endCxn id="118794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8793" name="Text Box 8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18794" name="Text Box 9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8795" name="Text Box 10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8796" name="Text Box 11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8797" name="Text Box 12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8798" name="Text Box 13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8799" name="Text Box 14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8800" name="Line 15"/>
          <p:cNvSpPr>
            <a:spLocks noChangeShapeType="1"/>
          </p:cNvSpPr>
          <p:nvPr/>
        </p:nvSpPr>
        <p:spPr bwMode="auto">
          <a:xfrm>
            <a:off x="69342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18801" name="Rectangle 16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153791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E9A4C6-82E4-4A3A-8D83-4124C9E26E6F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4</a:t>
            </a:r>
            <a:r>
              <a:rPr lang="en-US" smtClean="0"/>
              <a:t>)</a:t>
            </a:r>
          </a:p>
        </p:txBody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47244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 + (</a:t>
            </a:r>
            <a:r>
              <a:rPr lang="en-US" sz="1800" dirty="0" err="1"/>
              <a:t>int</a:t>
            </a:r>
            <a:r>
              <a:rPr lang="en-US" sz="1800" dirty="0"/>
              <a:t>)$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</p:txBody>
      </p:sp>
      <p:sp>
        <p:nvSpPr>
          <p:cNvPr id="119813" name="Text Box 4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19814" name="Text Box 5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9815" name="Text Box 6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19816" name="AutoShape 7"/>
          <p:cNvCxnSpPr>
            <a:cxnSpLocks noChangeShapeType="1"/>
            <a:stCxn id="119813" idx="2"/>
            <a:endCxn id="119818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9817" name="Text Box 8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19818" name="Text Box 9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9819" name="Text Box 10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19820" name="Text Box 11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9821" name="Text Box 12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9822" name="Text Box 13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19823" name="Text Box 14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19824" name="Line 15"/>
          <p:cNvSpPr>
            <a:spLocks noChangeShapeType="1"/>
          </p:cNvSpPr>
          <p:nvPr/>
        </p:nvSpPr>
        <p:spPr bwMode="auto">
          <a:xfrm>
            <a:off x="83820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19825" name="Rectangle 16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315718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4FDE79-69AB-4355-B3DF-56B395738AA7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5</a:t>
            </a:r>
            <a:r>
              <a:rPr lang="en-US" smtClean="0"/>
              <a:t>)</a:t>
            </a:r>
          </a:p>
        </p:txBody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47244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 + (</a:t>
            </a:r>
            <a:r>
              <a:rPr lang="en-US" sz="1800" dirty="0" err="1"/>
              <a:t>int</a:t>
            </a:r>
            <a:r>
              <a:rPr lang="en-US" sz="1800" dirty="0"/>
              <a:t>)$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      </a:t>
            </a:r>
            <a:r>
              <a:rPr lang="en-US" sz="1800" dirty="0">
                <a:solidFill>
                  <a:srgbClr val="33CC33"/>
                </a:solidFill>
              </a:rPr>
              <a:t>shift </a:t>
            </a:r>
          </a:p>
        </p:txBody>
      </p:sp>
      <p:sp>
        <p:nvSpPr>
          <p:cNvPr id="120837" name="Text Box 4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0838" name="Text Box 5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0839" name="Text Box 6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0840" name="AutoShape 7"/>
          <p:cNvCxnSpPr>
            <a:cxnSpLocks noChangeShapeType="1"/>
            <a:stCxn id="120837" idx="2"/>
            <a:endCxn id="120842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0841" name="Text Box 8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20842" name="Text Box 9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0843" name="Text Box 10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0844" name="Text Box 11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0845" name="Text Box 12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20846" name="Text Box 13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0847" name="Text Box 14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20848" name="Text Box 15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0849" name="AutoShape 16"/>
          <p:cNvCxnSpPr>
            <a:cxnSpLocks noChangeShapeType="1"/>
            <a:stCxn id="120843" idx="0"/>
            <a:endCxn id="120848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0850" name="Line 17"/>
          <p:cNvSpPr>
            <a:spLocks noChangeShapeType="1"/>
          </p:cNvSpPr>
          <p:nvPr/>
        </p:nvSpPr>
        <p:spPr bwMode="auto">
          <a:xfrm>
            <a:off x="83820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0851" name="Rectangle 18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236652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08D04A-7C7E-4ED3-9B22-12157E37DF0C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6</a:t>
            </a:r>
            <a:r>
              <a:rPr lang="en-US" smtClean="0"/>
              <a:t>)</a:t>
            </a:r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49530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/>
              <a:t>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 + (</a:t>
            </a:r>
            <a:r>
              <a:rPr lang="en-US" sz="1800" dirty="0" err="1"/>
              <a:t>int</a:t>
            </a:r>
            <a:r>
              <a:rPr lang="en-US" sz="1800" dirty="0"/>
              <a:t>)$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/>
              <a:t>+ (</a:t>
            </a:r>
            <a:r>
              <a:rPr lang="en-US" sz="1800" dirty="0" err="1"/>
              <a:t>int</a:t>
            </a:r>
            <a:r>
              <a:rPr lang="en-US" sz="1800" dirty="0"/>
              <a:t>)$      </a:t>
            </a:r>
            <a:r>
              <a:rPr lang="en-US" sz="1800" dirty="0">
                <a:solidFill>
                  <a:srgbClr val="33CC33"/>
                </a:solidFill>
              </a:rPr>
              <a:t>shift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3CC33"/>
                </a:solidFill>
              </a:rPr>
              <a:t>E + (E)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E + (E)  </a:t>
            </a:r>
          </a:p>
        </p:txBody>
      </p:sp>
      <p:sp>
        <p:nvSpPr>
          <p:cNvPr id="121861" name="Text Box 4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1862" name="Text Box 5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1863" name="Text Box 6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1864" name="AutoShape 7"/>
          <p:cNvCxnSpPr>
            <a:cxnSpLocks noChangeShapeType="1"/>
            <a:stCxn id="121861" idx="2"/>
            <a:endCxn id="121866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1865" name="Text Box 8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sp>
        <p:nvSpPr>
          <p:cNvPr id="121866" name="Text Box 9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1867" name="Text Box 10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1868" name="Text Box 11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1869" name="Text Box 12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21870" name="Text Box 13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1871" name="Text Box 14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21872" name="Text Box 15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1873" name="AutoShape 16"/>
          <p:cNvCxnSpPr>
            <a:cxnSpLocks noChangeShapeType="1"/>
            <a:stCxn id="121867" idx="0"/>
            <a:endCxn id="121872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1874" name="Line 17"/>
          <p:cNvSpPr>
            <a:spLocks noChangeShapeType="1"/>
          </p:cNvSpPr>
          <p:nvPr/>
        </p:nvSpPr>
        <p:spPr bwMode="auto">
          <a:xfrm>
            <a:off x="86106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1875" name="Rectangle 18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402755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2BC3A4-2FE5-45E6-A046-DE0CD00C9773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7</a:t>
            </a:r>
            <a:r>
              <a:rPr lang="en-US" smtClean="0"/>
              <a:t>)</a:t>
            </a:r>
          </a:p>
        </p:txBody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50292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 + (</a:t>
            </a:r>
            <a:r>
              <a:rPr lang="en-US" sz="1800" dirty="0" err="1"/>
              <a:t>int</a:t>
            </a:r>
            <a:r>
              <a:rPr lang="en-US" sz="1800" dirty="0"/>
              <a:t>)$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      </a:t>
            </a:r>
            <a:r>
              <a:rPr lang="en-US" sz="1800" dirty="0">
                <a:solidFill>
                  <a:srgbClr val="33CC33"/>
                </a:solidFill>
              </a:rPr>
              <a:t>shift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3CC33"/>
                </a:solidFill>
              </a:rPr>
              <a:t>E + (E)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E + (E)  </a:t>
            </a: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   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r>
              <a:rPr lang="en-US" sz="1800" dirty="0">
                <a:solidFill>
                  <a:schemeClr val="tx2"/>
                </a:solidFill>
                <a:latin typeface="cmsy10" pitchFamily="34" charset="0"/>
              </a:rPr>
              <a:t> </a:t>
            </a:r>
          </a:p>
        </p:txBody>
      </p:sp>
      <p:cxnSp>
        <p:nvCxnSpPr>
          <p:cNvPr id="122885" name="AutoShape 4"/>
          <p:cNvCxnSpPr>
            <a:cxnSpLocks noChangeShapeType="1"/>
            <a:stCxn id="122886" idx="0"/>
            <a:endCxn id="122898" idx="2"/>
          </p:cNvCxnSpPr>
          <p:nvPr/>
        </p:nvCxnSpPr>
        <p:spPr bwMode="auto">
          <a:xfrm flipV="1">
            <a:off x="6705600" y="3505200"/>
            <a:ext cx="99060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886" name="Text Box 5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2887" name="Text Box 6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2888" name="Text Box 7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2889" name="AutoShape 8"/>
          <p:cNvCxnSpPr>
            <a:cxnSpLocks noChangeShapeType="1"/>
            <a:stCxn id="122886" idx="2"/>
            <a:endCxn id="122892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890" name="Text Box 9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2891" name="AutoShape 10"/>
          <p:cNvCxnSpPr>
            <a:cxnSpLocks noChangeShapeType="1"/>
            <a:stCxn id="122898" idx="2"/>
            <a:endCxn id="122890" idx="0"/>
          </p:cNvCxnSpPr>
          <p:nvPr/>
        </p:nvCxnSpPr>
        <p:spPr bwMode="auto">
          <a:xfrm flipH="1">
            <a:off x="7010400" y="3505200"/>
            <a:ext cx="6858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892" name="Text Box 11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2893" name="Text Box 12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cxnSp>
        <p:nvCxnSpPr>
          <p:cNvPr id="122894" name="AutoShape 13"/>
          <p:cNvCxnSpPr>
            <a:cxnSpLocks noChangeShapeType="1"/>
            <a:stCxn id="122902" idx="0"/>
            <a:endCxn id="122898" idx="2"/>
          </p:cNvCxnSpPr>
          <p:nvPr/>
        </p:nvCxnSpPr>
        <p:spPr bwMode="auto">
          <a:xfrm flipH="1" flipV="1">
            <a:off x="7696200" y="3505200"/>
            <a:ext cx="228600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895" name="Text Box 14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2896" name="Text Box 15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2897" name="AutoShape 16"/>
          <p:cNvCxnSpPr>
            <a:cxnSpLocks noChangeShapeType="1"/>
            <a:stCxn id="122898" idx="2"/>
            <a:endCxn id="122895" idx="0"/>
          </p:cNvCxnSpPr>
          <p:nvPr/>
        </p:nvCxnSpPr>
        <p:spPr bwMode="auto">
          <a:xfrm flipH="1">
            <a:off x="7429500" y="3505200"/>
            <a:ext cx="266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898" name="Text Box 17"/>
          <p:cNvSpPr txBox="1">
            <a:spLocks noChangeArrowheads="1"/>
          </p:cNvSpPr>
          <p:nvPr/>
        </p:nvSpPr>
        <p:spPr bwMode="auto">
          <a:xfrm>
            <a:off x="7467600" y="3048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2899" name="Text Box 18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2900" name="Text Box 19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2901" name="AutoShape 20"/>
          <p:cNvCxnSpPr>
            <a:cxnSpLocks noChangeShapeType="1"/>
            <a:stCxn id="122898" idx="2"/>
            <a:endCxn id="122900" idx="0"/>
          </p:cNvCxnSpPr>
          <p:nvPr/>
        </p:nvCxnSpPr>
        <p:spPr bwMode="auto">
          <a:xfrm>
            <a:off x="7696200" y="3505200"/>
            <a:ext cx="647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902" name="Text Box 21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2903" name="AutoShape 22"/>
          <p:cNvCxnSpPr>
            <a:cxnSpLocks noChangeShapeType="1"/>
            <a:stCxn id="122893" idx="0"/>
            <a:endCxn id="122902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2904" name="Line 23"/>
          <p:cNvSpPr>
            <a:spLocks noChangeShapeType="1"/>
          </p:cNvSpPr>
          <p:nvPr/>
        </p:nvSpPr>
        <p:spPr bwMode="auto">
          <a:xfrm>
            <a:off x="86106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2905" name="Rectangle 24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307619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14BDE6-2B0E-4C4E-A781-0796AB00D492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8</a:t>
            </a:r>
            <a:r>
              <a:rPr lang="en-US" smtClean="0"/>
              <a:t>)</a:t>
            </a:r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52578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 + (</a:t>
            </a:r>
            <a:r>
              <a:rPr lang="en-US" sz="1800" dirty="0" err="1"/>
              <a:t>int</a:t>
            </a:r>
            <a:r>
              <a:rPr lang="en-US" sz="1800" dirty="0"/>
              <a:t>)$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      </a:t>
            </a:r>
            <a:r>
              <a:rPr lang="en-US" sz="1800" dirty="0">
                <a:solidFill>
                  <a:srgbClr val="33CC33"/>
                </a:solidFill>
              </a:rPr>
              <a:t>shift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3CC33"/>
                </a:solidFill>
              </a:rPr>
              <a:t>E + (E)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E + (E)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   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r>
              <a:rPr lang="en-US" sz="1800" dirty="0">
                <a:solidFill>
                  <a:schemeClr val="tx2"/>
                </a:solidFill>
                <a:latin typeface="cmsy10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)$          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</p:txBody>
      </p:sp>
      <p:cxnSp>
        <p:nvCxnSpPr>
          <p:cNvPr id="123909" name="AutoShape 4"/>
          <p:cNvCxnSpPr>
            <a:cxnSpLocks noChangeShapeType="1"/>
            <a:stCxn id="123910" idx="0"/>
            <a:endCxn id="123922" idx="2"/>
          </p:cNvCxnSpPr>
          <p:nvPr/>
        </p:nvCxnSpPr>
        <p:spPr bwMode="auto">
          <a:xfrm flipV="1">
            <a:off x="6705600" y="3505200"/>
            <a:ext cx="99060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10" name="Text Box 5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3911" name="Text Box 6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3912" name="Text Box 7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3913" name="AutoShape 8"/>
          <p:cNvCxnSpPr>
            <a:cxnSpLocks noChangeShapeType="1"/>
            <a:stCxn id="123910" idx="2"/>
            <a:endCxn id="123916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14" name="Text Box 9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3915" name="AutoShape 10"/>
          <p:cNvCxnSpPr>
            <a:cxnSpLocks noChangeShapeType="1"/>
            <a:stCxn id="123922" idx="2"/>
            <a:endCxn id="123914" idx="0"/>
          </p:cNvCxnSpPr>
          <p:nvPr/>
        </p:nvCxnSpPr>
        <p:spPr bwMode="auto">
          <a:xfrm flipH="1">
            <a:off x="7010400" y="3505200"/>
            <a:ext cx="6858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16" name="Text Box 11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3917" name="Text Box 12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cxnSp>
        <p:nvCxnSpPr>
          <p:cNvPr id="123918" name="AutoShape 13"/>
          <p:cNvCxnSpPr>
            <a:cxnSpLocks noChangeShapeType="1"/>
            <a:stCxn id="123926" idx="0"/>
            <a:endCxn id="123922" idx="2"/>
          </p:cNvCxnSpPr>
          <p:nvPr/>
        </p:nvCxnSpPr>
        <p:spPr bwMode="auto">
          <a:xfrm flipH="1" flipV="1">
            <a:off x="7696200" y="3505200"/>
            <a:ext cx="228600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19" name="Text Box 14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3920" name="Text Box 15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3921" name="AutoShape 16"/>
          <p:cNvCxnSpPr>
            <a:cxnSpLocks noChangeShapeType="1"/>
            <a:stCxn id="123922" idx="2"/>
            <a:endCxn id="123919" idx="0"/>
          </p:cNvCxnSpPr>
          <p:nvPr/>
        </p:nvCxnSpPr>
        <p:spPr bwMode="auto">
          <a:xfrm flipH="1">
            <a:off x="7429500" y="3505200"/>
            <a:ext cx="266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22" name="Text Box 17"/>
          <p:cNvSpPr txBox="1">
            <a:spLocks noChangeArrowheads="1"/>
          </p:cNvSpPr>
          <p:nvPr/>
        </p:nvSpPr>
        <p:spPr bwMode="auto">
          <a:xfrm>
            <a:off x="7467600" y="3048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3923" name="Text Box 18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3924" name="Text Box 19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3925" name="AutoShape 20"/>
          <p:cNvCxnSpPr>
            <a:cxnSpLocks noChangeShapeType="1"/>
            <a:stCxn id="123922" idx="2"/>
            <a:endCxn id="123924" idx="0"/>
          </p:cNvCxnSpPr>
          <p:nvPr/>
        </p:nvCxnSpPr>
        <p:spPr bwMode="auto">
          <a:xfrm>
            <a:off x="7696200" y="3505200"/>
            <a:ext cx="647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26" name="Text Box 21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3927" name="AutoShape 22"/>
          <p:cNvCxnSpPr>
            <a:cxnSpLocks noChangeShapeType="1"/>
            <a:stCxn id="123917" idx="0"/>
            <a:endCxn id="123926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3928" name="Line 23"/>
          <p:cNvSpPr>
            <a:spLocks noChangeShapeType="1"/>
          </p:cNvSpPr>
          <p:nvPr/>
        </p:nvSpPr>
        <p:spPr bwMode="auto">
          <a:xfrm>
            <a:off x="102108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3929" name="Rectangle 24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409539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46D0EA-4EDA-4F2F-92D5-B8AD339A8846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</a:t>
            </a:r>
            <a:r>
              <a:rPr lang="tr-TR" smtClean="0"/>
              <a:t>9</a:t>
            </a:r>
            <a:r>
              <a:rPr lang="en-US" smtClean="0"/>
              <a:t>)</a:t>
            </a:r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990600"/>
            <a:ext cx="5029200" cy="5562600"/>
          </a:xfrm>
        </p:spPr>
        <p:txBody>
          <a:bodyPr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 + (</a:t>
            </a:r>
            <a:r>
              <a:rPr lang="en-US" sz="1800" dirty="0" err="1"/>
              <a:t>int</a:t>
            </a:r>
            <a:r>
              <a:rPr lang="en-US" sz="1800" dirty="0"/>
              <a:t>)$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 + (</a:t>
            </a:r>
            <a:r>
              <a:rPr lang="en-US" sz="1800" dirty="0" err="1"/>
              <a:t>int</a:t>
            </a:r>
            <a:r>
              <a:rPr lang="en-US" sz="1800" dirty="0"/>
              <a:t>)$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   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  <a:r>
              <a:rPr lang="en-US" sz="1800" dirty="0"/>
              <a:t> </a:t>
            </a:r>
            <a:endParaRPr lang="en-US" sz="1800" dirty="0">
              <a:solidFill>
                <a:srgbClr val="FF0000"/>
              </a:solidFill>
              <a:latin typeface="cmsy10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33CC33"/>
                </a:solidFill>
              </a:rPr>
              <a:t>E + (E)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+ (</a:t>
            </a:r>
            <a:r>
              <a:rPr lang="en-US" sz="1800" dirty="0" err="1"/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E + (E)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/>
              <a:t>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)$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               </a:t>
            </a:r>
            <a:r>
              <a:rPr lang="en-US" sz="1800" dirty="0">
                <a:solidFill>
                  <a:srgbClr val="33CC33"/>
                </a:solidFill>
              </a:rPr>
              <a:t>shift 3 </a:t>
            </a:r>
            <a:r>
              <a:rPr lang="tr-TR" sz="1800" dirty="0">
                <a:solidFill>
                  <a:srgbClr val="33CC33"/>
                </a:solidFill>
              </a:rPr>
              <a:t>kez</a:t>
            </a:r>
            <a:r>
              <a:rPr lang="en-US" sz="180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/>
              <a:t>E + (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)$              </a:t>
            </a:r>
            <a:r>
              <a:rPr lang="en-US" sz="1800" dirty="0">
                <a:solidFill>
                  <a:srgbClr val="33CC33"/>
                </a:solidFill>
              </a:rPr>
              <a:t>red. E </a:t>
            </a:r>
            <a:r>
              <a:rPr lang="en-US" sz="180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sz="1800" dirty="0">
                <a:solidFill>
                  <a:srgbClr val="33CC33"/>
                </a:solidFill>
              </a:rPr>
              <a:t> </a:t>
            </a:r>
            <a:r>
              <a:rPr lang="en-US" sz="1800" dirty="0" err="1">
                <a:solidFill>
                  <a:srgbClr val="33CC33"/>
                </a:solidFill>
              </a:rPr>
              <a:t>int</a:t>
            </a:r>
            <a:endParaRPr lang="en-US" sz="1800" dirty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en-US" sz="1800" dirty="0"/>
              <a:t>E + (E </a:t>
            </a:r>
            <a:r>
              <a:rPr lang="en-US" sz="180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33CC33"/>
                </a:solidFill>
              </a:rPr>
              <a:t>)</a:t>
            </a:r>
            <a:r>
              <a:rPr lang="en-US" sz="1800" dirty="0"/>
              <a:t>$                </a:t>
            </a:r>
            <a:r>
              <a:rPr lang="en-US" sz="1800" dirty="0">
                <a:solidFill>
                  <a:srgbClr val="33CC33"/>
                </a:solidFill>
              </a:rPr>
              <a:t>shift</a:t>
            </a:r>
          </a:p>
        </p:txBody>
      </p:sp>
      <p:cxnSp>
        <p:nvCxnSpPr>
          <p:cNvPr id="124933" name="AutoShape 4"/>
          <p:cNvCxnSpPr>
            <a:cxnSpLocks noChangeShapeType="1"/>
            <a:stCxn id="124934" idx="0"/>
            <a:endCxn id="124946" idx="2"/>
          </p:cNvCxnSpPr>
          <p:nvPr/>
        </p:nvCxnSpPr>
        <p:spPr bwMode="auto">
          <a:xfrm flipV="1">
            <a:off x="6705600" y="3505200"/>
            <a:ext cx="99060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34" name="Text Box 5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4935" name="Text Box 6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4936" name="Text Box 7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4937" name="AutoShape 8"/>
          <p:cNvCxnSpPr>
            <a:cxnSpLocks noChangeShapeType="1"/>
            <a:stCxn id="124934" idx="2"/>
            <a:endCxn id="124940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38" name="Text Box 9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4939" name="AutoShape 10"/>
          <p:cNvCxnSpPr>
            <a:cxnSpLocks noChangeShapeType="1"/>
            <a:stCxn id="124946" idx="2"/>
            <a:endCxn id="124938" idx="0"/>
          </p:cNvCxnSpPr>
          <p:nvPr/>
        </p:nvCxnSpPr>
        <p:spPr bwMode="auto">
          <a:xfrm flipH="1">
            <a:off x="7010400" y="3505200"/>
            <a:ext cx="6858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40" name="Text Box 11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4941" name="Text Box 12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cxnSp>
        <p:nvCxnSpPr>
          <p:cNvPr id="124942" name="AutoShape 13"/>
          <p:cNvCxnSpPr>
            <a:cxnSpLocks noChangeShapeType="1"/>
            <a:stCxn id="124952" idx="0"/>
            <a:endCxn id="124946" idx="2"/>
          </p:cNvCxnSpPr>
          <p:nvPr/>
        </p:nvCxnSpPr>
        <p:spPr bwMode="auto">
          <a:xfrm flipH="1" flipV="1">
            <a:off x="7696200" y="3505200"/>
            <a:ext cx="228600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43" name="Text Box 14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4944" name="Text Box 15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4945" name="AutoShape 16"/>
          <p:cNvCxnSpPr>
            <a:cxnSpLocks noChangeShapeType="1"/>
            <a:stCxn id="124946" idx="2"/>
            <a:endCxn id="124943" idx="0"/>
          </p:cNvCxnSpPr>
          <p:nvPr/>
        </p:nvCxnSpPr>
        <p:spPr bwMode="auto">
          <a:xfrm flipH="1">
            <a:off x="7429500" y="3505200"/>
            <a:ext cx="266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46" name="Text Box 17"/>
          <p:cNvSpPr txBox="1">
            <a:spLocks noChangeArrowheads="1"/>
          </p:cNvSpPr>
          <p:nvPr/>
        </p:nvSpPr>
        <p:spPr bwMode="auto">
          <a:xfrm>
            <a:off x="7467600" y="3048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4947" name="Text Box 18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4948" name="Text Box 19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4949" name="AutoShape 20"/>
          <p:cNvCxnSpPr>
            <a:cxnSpLocks noChangeShapeType="1"/>
            <a:stCxn id="124946" idx="2"/>
            <a:endCxn id="124948" idx="0"/>
          </p:cNvCxnSpPr>
          <p:nvPr/>
        </p:nvCxnSpPr>
        <p:spPr bwMode="auto">
          <a:xfrm>
            <a:off x="7696200" y="3505200"/>
            <a:ext cx="647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50" name="Text Box 21"/>
          <p:cNvSpPr txBox="1">
            <a:spLocks noChangeArrowheads="1"/>
          </p:cNvSpPr>
          <p:nvPr/>
        </p:nvSpPr>
        <p:spPr bwMode="auto">
          <a:xfrm>
            <a:off x="9391650" y="4572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4951" name="AutoShape 22"/>
          <p:cNvCxnSpPr>
            <a:cxnSpLocks noChangeShapeType="1"/>
            <a:stCxn id="124935" idx="0"/>
            <a:endCxn id="124950" idx="2"/>
          </p:cNvCxnSpPr>
          <p:nvPr/>
        </p:nvCxnSpPr>
        <p:spPr bwMode="auto">
          <a:xfrm flipV="1">
            <a:off x="9620250" y="5029200"/>
            <a:ext cx="0" cy="419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52" name="Text Box 23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4953" name="AutoShape 24"/>
          <p:cNvCxnSpPr>
            <a:cxnSpLocks noChangeShapeType="1"/>
            <a:stCxn id="124941" idx="0"/>
            <a:endCxn id="124952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4954" name="Line 25"/>
          <p:cNvSpPr>
            <a:spLocks noChangeShapeType="1"/>
          </p:cNvSpPr>
          <p:nvPr/>
        </p:nvSpPr>
        <p:spPr bwMode="auto">
          <a:xfrm>
            <a:off x="102108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4955" name="Rectangle 26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</p:spTree>
    <p:extLst>
      <p:ext uri="{BB962C8B-B14F-4D97-AF65-F5344CB8AC3E}">
        <p14:creationId xmlns:p14="http://schemas.microsoft.com/office/powerpoint/2010/main" val="248574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3227E8-E0DA-446D-818B-D527FD7E3ECB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3058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(1</a:t>
            </a:r>
            <a:r>
              <a:rPr lang="tr-TR" smtClean="0"/>
              <a:t>0</a:t>
            </a:r>
            <a:r>
              <a:rPr lang="en-US" smtClean="0"/>
              <a:t>)</a:t>
            </a:r>
          </a:p>
        </p:txBody>
      </p:sp>
      <p:cxnSp>
        <p:nvCxnSpPr>
          <p:cNvPr id="125956" name="AutoShape 3"/>
          <p:cNvCxnSpPr>
            <a:cxnSpLocks noChangeShapeType="1"/>
            <a:stCxn id="125957" idx="0"/>
            <a:endCxn id="125969" idx="2"/>
          </p:cNvCxnSpPr>
          <p:nvPr/>
        </p:nvCxnSpPr>
        <p:spPr bwMode="auto">
          <a:xfrm flipV="1">
            <a:off x="6705600" y="3505200"/>
            <a:ext cx="99060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57" name="Text Box 4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5958" name="Text Box 5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5959" name="Text Box 6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5960" name="AutoShape 7"/>
          <p:cNvCxnSpPr>
            <a:cxnSpLocks noChangeShapeType="1"/>
            <a:stCxn id="125957" idx="2"/>
            <a:endCxn id="125963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61" name="Text Box 8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5962" name="AutoShape 9"/>
          <p:cNvCxnSpPr>
            <a:cxnSpLocks noChangeShapeType="1"/>
            <a:stCxn id="125969" idx="2"/>
            <a:endCxn id="125961" idx="0"/>
          </p:cNvCxnSpPr>
          <p:nvPr/>
        </p:nvCxnSpPr>
        <p:spPr bwMode="auto">
          <a:xfrm flipH="1">
            <a:off x="7010400" y="3505200"/>
            <a:ext cx="6858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63" name="Text Box 10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5964" name="Text Box 11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cxnSp>
        <p:nvCxnSpPr>
          <p:cNvPr id="125965" name="AutoShape 12"/>
          <p:cNvCxnSpPr>
            <a:cxnSpLocks noChangeShapeType="1"/>
            <a:stCxn id="125975" idx="0"/>
            <a:endCxn id="125969" idx="2"/>
          </p:cNvCxnSpPr>
          <p:nvPr/>
        </p:nvCxnSpPr>
        <p:spPr bwMode="auto">
          <a:xfrm flipH="1" flipV="1">
            <a:off x="7696200" y="3505200"/>
            <a:ext cx="228600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66" name="Text Box 13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5967" name="Text Box 14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5968" name="AutoShape 15"/>
          <p:cNvCxnSpPr>
            <a:cxnSpLocks noChangeShapeType="1"/>
            <a:stCxn id="125969" idx="2"/>
            <a:endCxn id="125966" idx="0"/>
          </p:cNvCxnSpPr>
          <p:nvPr/>
        </p:nvCxnSpPr>
        <p:spPr bwMode="auto">
          <a:xfrm flipH="1">
            <a:off x="7429500" y="3505200"/>
            <a:ext cx="266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69" name="Text Box 16"/>
          <p:cNvSpPr txBox="1">
            <a:spLocks noChangeArrowheads="1"/>
          </p:cNvSpPr>
          <p:nvPr/>
        </p:nvSpPr>
        <p:spPr bwMode="auto">
          <a:xfrm>
            <a:off x="7467600" y="3048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sp>
        <p:nvSpPr>
          <p:cNvPr id="125970" name="Text Box 17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5971" name="Text Box 18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5972" name="AutoShape 19"/>
          <p:cNvCxnSpPr>
            <a:cxnSpLocks noChangeShapeType="1"/>
            <a:stCxn id="125969" idx="2"/>
            <a:endCxn id="125971" idx="0"/>
          </p:cNvCxnSpPr>
          <p:nvPr/>
        </p:nvCxnSpPr>
        <p:spPr bwMode="auto">
          <a:xfrm>
            <a:off x="7696200" y="3505200"/>
            <a:ext cx="647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73" name="Text Box 20"/>
          <p:cNvSpPr txBox="1">
            <a:spLocks noChangeArrowheads="1"/>
          </p:cNvSpPr>
          <p:nvPr/>
        </p:nvSpPr>
        <p:spPr bwMode="auto">
          <a:xfrm>
            <a:off x="9391650" y="4572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5974" name="AutoShape 21"/>
          <p:cNvCxnSpPr>
            <a:cxnSpLocks noChangeShapeType="1"/>
            <a:stCxn id="125958" idx="0"/>
            <a:endCxn id="125973" idx="2"/>
          </p:cNvCxnSpPr>
          <p:nvPr/>
        </p:nvCxnSpPr>
        <p:spPr bwMode="auto">
          <a:xfrm flipV="1">
            <a:off x="9620250" y="5029200"/>
            <a:ext cx="0" cy="419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75" name="Text Box 22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5976" name="AutoShape 23"/>
          <p:cNvCxnSpPr>
            <a:cxnSpLocks noChangeShapeType="1"/>
            <a:stCxn id="125964" idx="0"/>
            <a:endCxn id="125975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5977" name="Line 24"/>
          <p:cNvSpPr>
            <a:spLocks noChangeShapeType="1"/>
          </p:cNvSpPr>
          <p:nvPr/>
        </p:nvSpPr>
        <p:spPr bwMode="auto">
          <a:xfrm>
            <a:off x="104394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5979" name="Rectangle 26"/>
          <p:cNvSpPr>
            <a:spLocks noChangeArrowheads="1"/>
          </p:cNvSpPr>
          <p:nvPr/>
        </p:nvSpPr>
        <p:spPr bwMode="auto">
          <a:xfrm>
            <a:off x="8229600" y="11430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1676400" y="990600"/>
            <a:ext cx="5029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FF0000"/>
              </a:solidFill>
              <a:latin typeface="cmsy10" pitchFamily="34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 + (</a:t>
            </a:r>
            <a:r>
              <a:rPr lang="en-US" kern="0" dirty="0" err="1"/>
              <a:t>int</a:t>
            </a:r>
            <a:r>
              <a:rPr lang="en-US" kern="0" dirty="0"/>
              <a:t>)$   </a:t>
            </a:r>
            <a:r>
              <a:rPr lang="en-US" kern="0" dirty="0">
                <a:solidFill>
                  <a:srgbClr val="33CC33"/>
                </a:solidFill>
              </a:rPr>
              <a:t>shift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 + (</a:t>
            </a:r>
            <a:r>
              <a:rPr lang="en-US" kern="0" dirty="0" err="1"/>
              <a:t>int</a:t>
            </a:r>
            <a:r>
              <a:rPr lang="en-US" kern="0" dirty="0"/>
              <a:t>)$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) + (</a:t>
            </a:r>
            <a:r>
              <a:rPr lang="en-US" kern="0" dirty="0" err="1"/>
              <a:t>int</a:t>
            </a:r>
            <a:r>
              <a:rPr lang="en-US" kern="0" dirty="0"/>
              <a:t>)$     </a:t>
            </a:r>
            <a:r>
              <a:rPr lang="en-US" kern="0" dirty="0">
                <a:solidFill>
                  <a:srgbClr val="33CC33"/>
                </a:solidFill>
              </a:rPr>
              <a:t>shift 3 </a:t>
            </a:r>
            <a:r>
              <a:rPr lang="tr-TR" kern="0" dirty="0">
                <a:solidFill>
                  <a:srgbClr val="33CC33"/>
                </a:solidFill>
              </a:rPr>
              <a:t>kez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) + (</a:t>
            </a:r>
            <a:r>
              <a:rPr lang="en-US" kern="0" dirty="0" err="1"/>
              <a:t>int</a:t>
            </a:r>
            <a:r>
              <a:rPr lang="en-US" kern="0" dirty="0"/>
              <a:t>)$ 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)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)$      </a:t>
            </a:r>
            <a:r>
              <a:rPr lang="en-US" kern="0" dirty="0">
                <a:solidFill>
                  <a:srgbClr val="33CC33"/>
                </a:solidFill>
              </a:rPr>
              <a:t>shift</a:t>
            </a:r>
            <a:r>
              <a:rPr lang="en-US" kern="0" dirty="0"/>
              <a:t> </a:t>
            </a:r>
            <a:endParaRPr lang="en-US" kern="0" dirty="0">
              <a:solidFill>
                <a:srgbClr val="FF0000"/>
              </a:solidFill>
              <a:latin typeface="cmsy10" pitchFamily="34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>
                <a:solidFill>
                  <a:srgbClr val="33CC33"/>
                </a:solidFill>
              </a:rPr>
              <a:t>E + (E)</a:t>
            </a:r>
            <a:r>
              <a:rPr lang="en-US" kern="0" dirty="0">
                <a:solidFill>
                  <a:schemeClr val="tx2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)$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    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E + (E)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)$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               </a:t>
            </a:r>
            <a:r>
              <a:rPr lang="en-US" kern="0" dirty="0">
                <a:solidFill>
                  <a:srgbClr val="33CC33"/>
                </a:solidFill>
              </a:rPr>
              <a:t>shift 3 </a:t>
            </a:r>
            <a:r>
              <a:rPr lang="tr-TR" kern="0" dirty="0">
                <a:solidFill>
                  <a:srgbClr val="33CC33"/>
                </a:solidFill>
              </a:rPr>
              <a:t>kez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)$           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)</a:t>
            </a:r>
            <a:r>
              <a:rPr lang="en-US" kern="0" dirty="0"/>
              <a:t>$                </a:t>
            </a:r>
            <a:r>
              <a:rPr lang="en-US" kern="0" dirty="0">
                <a:solidFill>
                  <a:srgbClr val="33CC33"/>
                </a:solidFill>
                <a:latin typeface="+mj-lt"/>
              </a:rPr>
              <a:t>shift</a:t>
            </a:r>
            <a:endParaRPr lang="tr-TR" kern="0" dirty="0">
              <a:solidFill>
                <a:srgbClr val="33CC33"/>
              </a:solidFill>
              <a:latin typeface="+mj-lt"/>
            </a:endParaRPr>
          </a:p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rgbClr val="33CC33"/>
                </a:solidFill>
                <a:latin typeface="+mj-lt"/>
              </a:rPr>
              <a:t>E + (E)</a:t>
            </a:r>
            <a:r>
              <a:rPr lang="en-US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  <a:sym typeface="Symbol" pitchFamily="18" charset="2"/>
              </a:rPr>
              <a:t></a:t>
            </a:r>
            <a:r>
              <a:rPr lang="en-US" dirty="0">
                <a:latin typeface="+mj-lt"/>
              </a:rPr>
              <a:t> $                </a:t>
            </a:r>
            <a:r>
              <a:rPr lang="en-US" dirty="0">
                <a:solidFill>
                  <a:srgbClr val="33CC33"/>
                </a:solidFill>
                <a:latin typeface="+mj-lt"/>
              </a:rPr>
              <a:t>red. E </a:t>
            </a:r>
            <a:r>
              <a:rPr lang="en-US" dirty="0">
                <a:solidFill>
                  <a:srgbClr val="33CC33"/>
                </a:solidFill>
                <a:latin typeface="+mj-lt"/>
                <a:sym typeface="Symbol" pitchFamily="18" charset="2"/>
              </a:rPr>
              <a:t></a:t>
            </a:r>
            <a:r>
              <a:rPr lang="en-US" dirty="0">
                <a:solidFill>
                  <a:srgbClr val="33CC33"/>
                </a:solidFill>
                <a:latin typeface="+mj-lt"/>
              </a:rPr>
              <a:t> E + (E)</a:t>
            </a:r>
            <a:r>
              <a:rPr lang="en-US" b="1" dirty="0">
                <a:solidFill>
                  <a:srgbClr val="33CC33"/>
                </a:solidFill>
                <a:latin typeface="+mj-lt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33CC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78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4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6FAC175-5F45-494C-B380-AF526F664F63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3058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r-TR" smtClean="0"/>
              <a:t>Örnek: </a:t>
            </a:r>
            <a:r>
              <a:rPr lang="en-US" smtClean="0"/>
              <a:t>Shift-Reduce </a:t>
            </a:r>
            <a:r>
              <a:rPr lang="tr-TR" smtClean="0"/>
              <a:t>Ayrıştırma</a:t>
            </a:r>
            <a:r>
              <a:rPr lang="en-US" smtClean="0"/>
              <a:t> (1</a:t>
            </a:r>
            <a:r>
              <a:rPr lang="tr-TR" smtClean="0"/>
              <a:t>1</a:t>
            </a:r>
            <a:r>
              <a:rPr lang="en-US" smtClean="0"/>
              <a:t>)</a:t>
            </a:r>
          </a:p>
        </p:txBody>
      </p:sp>
      <p:cxnSp>
        <p:nvCxnSpPr>
          <p:cNvPr id="126980" name="AutoShape 3"/>
          <p:cNvCxnSpPr>
            <a:cxnSpLocks noChangeShapeType="1"/>
            <a:stCxn id="126984" idx="0"/>
            <a:endCxn id="126997" idx="2"/>
          </p:cNvCxnSpPr>
          <p:nvPr/>
        </p:nvCxnSpPr>
        <p:spPr bwMode="auto">
          <a:xfrm flipV="1">
            <a:off x="6705600" y="3505200"/>
            <a:ext cx="99060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81" name="Text Box 4"/>
          <p:cNvSpPr txBox="1">
            <a:spLocks noChangeArrowheads="1"/>
          </p:cNvSpPr>
          <p:nvPr/>
        </p:nvSpPr>
        <p:spPr bwMode="auto">
          <a:xfrm>
            <a:off x="8839200" y="1524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6982" name="AutoShape 5"/>
          <p:cNvCxnSpPr>
            <a:cxnSpLocks noChangeShapeType="1"/>
            <a:stCxn id="127000" idx="0"/>
            <a:endCxn id="126981" idx="2"/>
          </p:cNvCxnSpPr>
          <p:nvPr/>
        </p:nvCxnSpPr>
        <p:spPr bwMode="auto">
          <a:xfrm flipV="1">
            <a:off x="8991600" y="1981200"/>
            <a:ext cx="76200" cy="3467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6983" name="AutoShape 6"/>
          <p:cNvCxnSpPr>
            <a:cxnSpLocks noChangeShapeType="1"/>
            <a:stCxn id="127003" idx="0"/>
            <a:endCxn id="126981" idx="2"/>
          </p:cNvCxnSpPr>
          <p:nvPr/>
        </p:nvCxnSpPr>
        <p:spPr bwMode="auto">
          <a:xfrm flipH="1" flipV="1">
            <a:off x="9067800" y="1981200"/>
            <a:ext cx="552450" cy="2590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84" name="Text Box 7"/>
          <p:cNvSpPr txBox="1">
            <a:spLocks noChangeArrowheads="1"/>
          </p:cNvSpPr>
          <p:nvPr/>
        </p:nvSpPr>
        <p:spPr bwMode="auto">
          <a:xfrm>
            <a:off x="6477000" y="4586288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6985" name="AutoShape 8"/>
          <p:cNvCxnSpPr>
            <a:cxnSpLocks noChangeShapeType="1"/>
            <a:stCxn id="126981" idx="2"/>
            <a:endCxn id="126987" idx="0"/>
          </p:cNvCxnSpPr>
          <p:nvPr/>
        </p:nvCxnSpPr>
        <p:spPr bwMode="auto">
          <a:xfrm flipH="1">
            <a:off x="8582026" y="1981200"/>
            <a:ext cx="485775" cy="3467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86" name="Text Box 9"/>
          <p:cNvSpPr txBox="1">
            <a:spLocks noChangeArrowheads="1"/>
          </p:cNvSpPr>
          <p:nvPr/>
        </p:nvSpPr>
        <p:spPr bwMode="auto">
          <a:xfrm>
            <a:off x="927735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6987" name="Text Box 10"/>
          <p:cNvSpPr txBox="1">
            <a:spLocks noChangeArrowheads="1"/>
          </p:cNvSpPr>
          <p:nvPr/>
        </p:nvSpPr>
        <p:spPr bwMode="auto">
          <a:xfrm>
            <a:off x="8401050" y="5448300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6988" name="AutoShape 11"/>
          <p:cNvCxnSpPr>
            <a:cxnSpLocks noChangeShapeType="1"/>
            <a:stCxn id="126984" idx="2"/>
            <a:endCxn id="126991" idx="0"/>
          </p:cNvCxnSpPr>
          <p:nvPr/>
        </p:nvCxnSpPr>
        <p:spPr bwMode="auto">
          <a:xfrm flipH="1">
            <a:off x="6515100" y="5043488"/>
            <a:ext cx="190500" cy="404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89" name="Text Box 12"/>
          <p:cNvSpPr txBox="1">
            <a:spLocks noChangeArrowheads="1"/>
          </p:cNvSpPr>
          <p:nvPr/>
        </p:nvSpPr>
        <p:spPr bwMode="auto">
          <a:xfrm>
            <a:off x="6781800" y="54483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+</a:t>
            </a:r>
          </a:p>
        </p:txBody>
      </p:sp>
      <p:cxnSp>
        <p:nvCxnSpPr>
          <p:cNvPr id="126990" name="AutoShape 13"/>
          <p:cNvCxnSpPr>
            <a:cxnSpLocks noChangeShapeType="1"/>
            <a:stCxn id="126997" idx="2"/>
            <a:endCxn id="126989" idx="0"/>
          </p:cNvCxnSpPr>
          <p:nvPr/>
        </p:nvCxnSpPr>
        <p:spPr bwMode="auto">
          <a:xfrm flipH="1">
            <a:off x="7010400" y="3505200"/>
            <a:ext cx="6858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91" name="Text Box 14"/>
          <p:cNvSpPr txBox="1">
            <a:spLocks noChangeArrowheads="1"/>
          </p:cNvSpPr>
          <p:nvPr/>
        </p:nvSpPr>
        <p:spPr bwMode="auto">
          <a:xfrm>
            <a:off x="6172200" y="54483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sp>
        <p:nvSpPr>
          <p:cNvPr id="126992" name="Text Box 15"/>
          <p:cNvSpPr txBox="1">
            <a:spLocks noChangeArrowheads="1"/>
          </p:cNvSpPr>
          <p:nvPr/>
        </p:nvSpPr>
        <p:spPr bwMode="auto">
          <a:xfrm>
            <a:off x="7620000" y="544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int</a:t>
            </a:r>
          </a:p>
        </p:txBody>
      </p:sp>
      <p:cxnSp>
        <p:nvCxnSpPr>
          <p:cNvPr id="126993" name="AutoShape 16"/>
          <p:cNvCxnSpPr>
            <a:cxnSpLocks noChangeShapeType="1"/>
            <a:stCxn id="127005" idx="0"/>
            <a:endCxn id="126997" idx="2"/>
          </p:cNvCxnSpPr>
          <p:nvPr/>
        </p:nvCxnSpPr>
        <p:spPr bwMode="auto">
          <a:xfrm flipH="1" flipV="1">
            <a:off x="7696200" y="3505200"/>
            <a:ext cx="228600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94" name="Text Box 17"/>
          <p:cNvSpPr txBox="1">
            <a:spLocks noChangeArrowheads="1"/>
          </p:cNvSpPr>
          <p:nvPr/>
        </p:nvSpPr>
        <p:spPr bwMode="auto">
          <a:xfrm>
            <a:off x="72390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6995" name="Text Box 18"/>
          <p:cNvSpPr txBox="1">
            <a:spLocks noChangeArrowheads="1"/>
          </p:cNvSpPr>
          <p:nvPr/>
        </p:nvSpPr>
        <p:spPr bwMode="auto">
          <a:xfrm>
            <a:off x="10058400" y="54483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6996" name="AutoShape 19"/>
          <p:cNvCxnSpPr>
            <a:cxnSpLocks noChangeShapeType="1"/>
            <a:stCxn id="126997" idx="2"/>
            <a:endCxn id="126994" idx="0"/>
          </p:cNvCxnSpPr>
          <p:nvPr/>
        </p:nvCxnSpPr>
        <p:spPr bwMode="auto">
          <a:xfrm flipH="1">
            <a:off x="7429500" y="3505200"/>
            <a:ext cx="266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6997" name="Text Box 20"/>
          <p:cNvSpPr txBox="1">
            <a:spLocks noChangeArrowheads="1"/>
          </p:cNvSpPr>
          <p:nvPr/>
        </p:nvSpPr>
        <p:spPr bwMode="auto">
          <a:xfrm>
            <a:off x="7467600" y="3048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6998" name="AutoShape 21"/>
          <p:cNvCxnSpPr>
            <a:cxnSpLocks noChangeShapeType="1"/>
            <a:stCxn id="126981" idx="2"/>
            <a:endCxn id="126997" idx="0"/>
          </p:cNvCxnSpPr>
          <p:nvPr/>
        </p:nvCxnSpPr>
        <p:spPr bwMode="auto">
          <a:xfrm flipH="1">
            <a:off x="7696200" y="1981200"/>
            <a:ext cx="13716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6999" name="AutoShape 22"/>
          <p:cNvCxnSpPr>
            <a:cxnSpLocks noChangeShapeType="1"/>
            <a:stCxn id="126981" idx="2"/>
            <a:endCxn id="126995" idx="0"/>
          </p:cNvCxnSpPr>
          <p:nvPr/>
        </p:nvCxnSpPr>
        <p:spPr bwMode="auto">
          <a:xfrm>
            <a:off x="9067800" y="1981200"/>
            <a:ext cx="1143000" cy="3467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7000" name="Text Box 23"/>
          <p:cNvSpPr txBox="1">
            <a:spLocks noChangeArrowheads="1"/>
          </p:cNvSpPr>
          <p:nvPr/>
        </p:nvSpPr>
        <p:spPr bwMode="auto">
          <a:xfrm>
            <a:off x="8801100" y="5448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(</a:t>
            </a:r>
          </a:p>
        </p:txBody>
      </p:sp>
      <p:sp>
        <p:nvSpPr>
          <p:cNvPr id="127001" name="Text Box 24"/>
          <p:cNvSpPr txBox="1">
            <a:spLocks noChangeArrowheads="1"/>
          </p:cNvSpPr>
          <p:nvPr/>
        </p:nvSpPr>
        <p:spPr bwMode="auto">
          <a:xfrm>
            <a:off x="8229600" y="5448300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</p:txBody>
      </p:sp>
      <p:cxnSp>
        <p:nvCxnSpPr>
          <p:cNvPr id="127002" name="AutoShape 25"/>
          <p:cNvCxnSpPr>
            <a:cxnSpLocks noChangeShapeType="1"/>
            <a:stCxn id="126997" idx="2"/>
            <a:endCxn id="127001" idx="0"/>
          </p:cNvCxnSpPr>
          <p:nvPr/>
        </p:nvCxnSpPr>
        <p:spPr bwMode="auto">
          <a:xfrm>
            <a:off x="7696200" y="3505200"/>
            <a:ext cx="6477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7003" name="Text Box 26"/>
          <p:cNvSpPr txBox="1">
            <a:spLocks noChangeArrowheads="1"/>
          </p:cNvSpPr>
          <p:nvPr/>
        </p:nvSpPr>
        <p:spPr bwMode="auto">
          <a:xfrm>
            <a:off x="9391650" y="4572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7004" name="AutoShape 27"/>
          <p:cNvCxnSpPr>
            <a:cxnSpLocks noChangeShapeType="1"/>
            <a:stCxn id="126986" idx="0"/>
            <a:endCxn id="127003" idx="2"/>
          </p:cNvCxnSpPr>
          <p:nvPr/>
        </p:nvCxnSpPr>
        <p:spPr bwMode="auto">
          <a:xfrm flipV="1">
            <a:off x="9620250" y="5029200"/>
            <a:ext cx="0" cy="419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7005" name="Text Box 28"/>
          <p:cNvSpPr txBox="1">
            <a:spLocks noChangeArrowheads="1"/>
          </p:cNvSpPr>
          <p:nvPr/>
        </p:nvSpPr>
        <p:spPr bwMode="auto">
          <a:xfrm>
            <a:off x="7734300" y="46101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latin typeface="Century Gothic" pitchFamily="34" charset="0"/>
              </a:rPr>
              <a:t>E</a:t>
            </a:r>
          </a:p>
        </p:txBody>
      </p:sp>
      <p:cxnSp>
        <p:nvCxnSpPr>
          <p:cNvPr id="127006" name="AutoShape 29"/>
          <p:cNvCxnSpPr>
            <a:cxnSpLocks noChangeShapeType="1"/>
            <a:stCxn id="126992" idx="0"/>
            <a:endCxn id="127005" idx="2"/>
          </p:cNvCxnSpPr>
          <p:nvPr/>
        </p:nvCxnSpPr>
        <p:spPr bwMode="auto">
          <a:xfrm flipV="1">
            <a:off x="7886700" y="5067300"/>
            <a:ext cx="38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7007" name="Line 30"/>
          <p:cNvSpPr>
            <a:spLocks noChangeShapeType="1"/>
          </p:cNvSpPr>
          <p:nvPr/>
        </p:nvSpPr>
        <p:spPr bwMode="auto">
          <a:xfrm>
            <a:off x="10363200" y="5943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endParaRPr lang="tr-TR"/>
          </a:p>
        </p:txBody>
      </p:sp>
      <p:sp>
        <p:nvSpPr>
          <p:cNvPr id="127009" name="Rectangle 32"/>
          <p:cNvSpPr>
            <a:spLocks noChangeArrowheads="1"/>
          </p:cNvSpPr>
          <p:nvPr/>
        </p:nvSpPr>
        <p:spPr bwMode="auto">
          <a:xfrm>
            <a:off x="6248400" y="1295400"/>
            <a:ext cx="2133600" cy="1066800"/>
          </a:xfrm>
          <a:prstGeom prst="rect">
            <a:avLst/>
          </a:prstGeom>
          <a:solidFill>
            <a:srgbClr val="E0ECF4"/>
          </a:solidFill>
          <a:ln w="508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E </a:t>
            </a:r>
            <a:r>
              <a:rPr lang="en-US">
                <a:sym typeface="Symbol" pitchFamily="18" charset="2"/>
              </a:rPr>
              <a:t> int</a:t>
            </a:r>
          </a:p>
          <a:p>
            <a:r>
              <a:rPr lang="en-US">
                <a:sym typeface="Symbol" pitchFamily="18" charset="2"/>
              </a:rPr>
              <a:t>E  E + (E)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1676400" y="990600"/>
            <a:ext cx="5029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FF0000"/>
              </a:solidFill>
              <a:latin typeface="cmsy10" pitchFamily="34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 + (</a:t>
            </a:r>
            <a:r>
              <a:rPr lang="en-US" kern="0" dirty="0" err="1"/>
              <a:t>int</a:t>
            </a:r>
            <a:r>
              <a:rPr lang="en-US" kern="0" dirty="0"/>
              <a:t>)$   </a:t>
            </a:r>
            <a:r>
              <a:rPr lang="en-US" kern="0" dirty="0">
                <a:solidFill>
                  <a:srgbClr val="33CC33"/>
                </a:solidFill>
              </a:rPr>
              <a:t>shift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 + (</a:t>
            </a:r>
            <a:r>
              <a:rPr lang="en-US" kern="0" dirty="0" err="1"/>
              <a:t>int</a:t>
            </a:r>
            <a:r>
              <a:rPr lang="en-US" kern="0" dirty="0"/>
              <a:t>)$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) + (</a:t>
            </a:r>
            <a:r>
              <a:rPr lang="en-US" kern="0" dirty="0" err="1"/>
              <a:t>int</a:t>
            </a:r>
            <a:r>
              <a:rPr lang="en-US" kern="0" dirty="0"/>
              <a:t>)$     </a:t>
            </a:r>
            <a:r>
              <a:rPr lang="en-US" kern="0" dirty="0">
                <a:solidFill>
                  <a:srgbClr val="33CC33"/>
                </a:solidFill>
              </a:rPr>
              <a:t>shift 3 </a:t>
            </a:r>
            <a:r>
              <a:rPr lang="tr-TR" kern="0" dirty="0">
                <a:solidFill>
                  <a:srgbClr val="33CC33"/>
                </a:solidFill>
              </a:rPr>
              <a:t>kez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) + (</a:t>
            </a:r>
            <a:r>
              <a:rPr lang="en-US" kern="0" dirty="0" err="1"/>
              <a:t>int</a:t>
            </a:r>
            <a:r>
              <a:rPr lang="en-US" kern="0" dirty="0"/>
              <a:t>)$ 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)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)$      </a:t>
            </a:r>
            <a:r>
              <a:rPr lang="en-US" kern="0" dirty="0">
                <a:solidFill>
                  <a:srgbClr val="33CC33"/>
                </a:solidFill>
              </a:rPr>
              <a:t>shift</a:t>
            </a:r>
            <a:r>
              <a:rPr lang="en-US" kern="0" dirty="0"/>
              <a:t> </a:t>
            </a:r>
            <a:endParaRPr lang="en-US" kern="0" dirty="0">
              <a:solidFill>
                <a:srgbClr val="FF0000"/>
              </a:solidFill>
              <a:latin typeface="cmsy10" pitchFamily="34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>
                <a:solidFill>
                  <a:srgbClr val="33CC33"/>
                </a:solidFill>
              </a:rPr>
              <a:t>E + (E)</a:t>
            </a:r>
            <a:r>
              <a:rPr lang="en-US" kern="0" dirty="0">
                <a:solidFill>
                  <a:schemeClr val="tx2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+ (</a:t>
            </a:r>
            <a:r>
              <a:rPr lang="en-US" kern="0" dirty="0" err="1"/>
              <a:t>int</a:t>
            </a:r>
            <a:r>
              <a:rPr lang="en-US" kern="0" dirty="0"/>
              <a:t>)$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    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E + (E)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)$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               </a:t>
            </a:r>
            <a:r>
              <a:rPr lang="en-US" kern="0" dirty="0">
                <a:solidFill>
                  <a:srgbClr val="33CC33"/>
                </a:solidFill>
              </a:rPr>
              <a:t>shift 3 </a:t>
            </a:r>
            <a:r>
              <a:rPr lang="tr-TR" kern="0" dirty="0">
                <a:solidFill>
                  <a:srgbClr val="33CC33"/>
                </a:solidFill>
              </a:rPr>
              <a:t>kez</a:t>
            </a:r>
            <a:r>
              <a:rPr lang="en-US" kern="0" dirty="0">
                <a:solidFill>
                  <a:srgbClr val="FF0000"/>
                </a:solidFill>
                <a:latin typeface="cmsy10" pitchFamily="34" charset="0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)$              </a:t>
            </a:r>
            <a:r>
              <a:rPr lang="en-US" kern="0" dirty="0">
                <a:solidFill>
                  <a:srgbClr val="33CC33"/>
                </a:solidFill>
              </a:rPr>
              <a:t>red. E </a:t>
            </a:r>
            <a:r>
              <a:rPr lang="en-US" kern="0" dirty="0">
                <a:solidFill>
                  <a:srgbClr val="33CC33"/>
                </a:solidFill>
                <a:sym typeface="Symbol" pitchFamily="18" charset="2"/>
              </a:rPr>
              <a:t></a:t>
            </a:r>
            <a:r>
              <a:rPr lang="en-US" kern="0" dirty="0">
                <a:solidFill>
                  <a:srgbClr val="33CC33"/>
                </a:solidFill>
              </a:rPr>
              <a:t> </a:t>
            </a:r>
            <a:r>
              <a:rPr lang="en-US" kern="0" dirty="0" err="1">
                <a:solidFill>
                  <a:srgbClr val="33CC33"/>
                </a:solidFill>
              </a:rPr>
              <a:t>int</a:t>
            </a:r>
            <a:endParaRPr lang="en-US" kern="0" dirty="0">
              <a:solidFill>
                <a:srgbClr val="33CC33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kern="0" dirty="0"/>
              <a:t>E + (E </a:t>
            </a:r>
            <a:r>
              <a:rPr lang="en-US" kern="0" dirty="0">
                <a:solidFill>
                  <a:srgbClr val="FF0000"/>
                </a:solidFill>
                <a:latin typeface="msam10" pitchFamily="34" charset="0"/>
                <a:sym typeface="Symbol" pitchFamily="18" charset="2"/>
              </a:rPr>
              <a:t></a:t>
            </a:r>
            <a:r>
              <a:rPr lang="en-US" kern="0" dirty="0"/>
              <a:t> </a:t>
            </a:r>
            <a:r>
              <a:rPr lang="en-US" kern="0" dirty="0">
                <a:solidFill>
                  <a:srgbClr val="33CC33"/>
                </a:solidFill>
              </a:rPr>
              <a:t>)</a:t>
            </a:r>
            <a:r>
              <a:rPr lang="en-US" kern="0" dirty="0"/>
              <a:t>$                </a:t>
            </a:r>
            <a:r>
              <a:rPr lang="en-US" kern="0" dirty="0">
                <a:solidFill>
                  <a:srgbClr val="33CC33"/>
                </a:solidFill>
                <a:latin typeface="+mj-lt"/>
              </a:rPr>
              <a:t>shift</a:t>
            </a:r>
            <a:endParaRPr lang="tr-TR" kern="0" dirty="0">
              <a:solidFill>
                <a:srgbClr val="33CC33"/>
              </a:solidFill>
              <a:latin typeface="+mj-lt"/>
            </a:endParaRPr>
          </a:p>
          <a:p>
            <a:pPr eaLnBrk="1" hangingPunct="1">
              <a:spcBef>
                <a:spcPct val="20000"/>
              </a:spcBef>
            </a:pPr>
            <a:r>
              <a:rPr lang="en-US" dirty="0">
                <a:solidFill>
                  <a:srgbClr val="33CC33"/>
                </a:solidFill>
                <a:latin typeface="+mj-lt"/>
              </a:rPr>
              <a:t>E + (E)</a:t>
            </a:r>
            <a:r>
              <a:rPr lang="en-US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  <a:sym typeface="Symbol" pitchFamily="18" charset="2"/>
              </a:rPr>
              <a:t></a:t>
            </a:r>
            <a:r>
              <a:rPr lang="en-US" dirty="0">
                <a:latin typeface="+mj-lt"/>
              </a:rPr>
              <a:t> $                </a:t>
            </a:r>
            <a:r>
              <a:rPr lang="en-US" dirty="0">
                <a:solidFill>
                  <a:srgbClr val="33CC33"/>
                </a:solidFill>
                <a:latin typeface="+mj-lt"/>
              </a:rPr>
              <a:t>red. E </a:t>
            </a:r>
            <a:r>
              <a:rPr lang="en-US" dirty="0">
                <a:solidFill>
                  <a:srgbClr val="33CC33"/>
                </a:solidFill>
                <a:latin typeface="+mj-lt"/>
                <a:sym typeface="Symbol" pitchFamily="18" charset="2"/>
              </a:rPr>
              <a:t></a:t>
            </a:r>
            <a:r>
              <a:rPr lang="en-US" dirty="0">
                <a:solidFill>
                  <a:srgbClr val="33CC33"/>
                </a:solidFill>
                <a:latin typeface="+mj-lt"/>
              </a:rPr>
              <a:t> E + (E)</a:t>
            </a:r>
            <a:endParaRPr lang="tr-TR" dirty="0">
              <a:solidFill>
                <a:srgbClr val="33CC33"/>
              </a:solidFill>
              <a:latin typeface="+mj-lt"/>
            </a:endParaRPr>
          </a:p>
          <a:p>
            <a:pPr eaLnBrk="1" hangingPunct="1">
              <a:spcBef>
                <a:spcPct val="20000"/>
              </a:spcBef>
            </a:pPr>
            <a:r>
              <a:rPr lang="en-US" dirty="0">
                <a:latin typeface="+mj-lt"/>
              </a:rPr>
              <a:t>E </a:t>
            </a:r>
            <a:r>
              <a:rPr lang="en-US" sz="2000" dirty="0">
                <a:solidFill>
                  <a:srgbClr val="FF0000"/>
                </a:solidFill>
                <a:latin typeface="+mj-lt"/>
                <a:sym typeface="Symbol" pitchFamily="18" charset="2"/>
              </a:rPr>
              <a:t></a:t>
            </a:r>
            <a:r>
              <a:rPr lang="en-US" dirty="0">
                <a:latin typeface="+mj-lt"/>
              </a:rPr>
              <a:t> $                        </a:t>
            </a:r>
            <a:r>
              <a:rPr lang="en-US" dirty="0">
                <a:solidFill>
                  <a:srgbClr val="33CC33"/>
                </a:solidFill>
                <a:latin typeface="+mj-lt"/>
              </a:rPr>
              <a:t>accept</a:t>
            </a:r>
          </a:p>
          <a:p>
            <a:pPr eaLnBrk="1" hangingPunct="1">
              <a:spcBef>
                <a:spcPct val="20000"/>
              </a:spcBef>
            </a:pPr>
            <a:r>
              <a:rPr lang="en-US" b="1" dirty="0">
                <a:solidFill>
                  <a:srgbClr val="33CC33"/>
                </a:solidFill>
                <a:latin typeface="+mj-lt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33CC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90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tr-TR" smtClean="0"/>
              <a:t>Örnek 3: </a:t>
            </a:r>
            <a:r>
              <a:rPr lang="en-US" smtClean="0"/>
              <a:t>Shift-Reduce </a:t>
            </a:r>
            <a:r>
              <a:rPr lang="tr-TR" smtClean="0"/>
              <a:t>Ayrıştırma Örneği</a:t>
            </a:r>
            <a:endParaRPr lang="en-US" smtClean="0"/>
          </a:p>
        </p:txBody>
      </p:sp>
      <p:sp>
        <p:nvSpPr>
          <p:cNvPr id="258051" name="Rectangle 3"/>
          <p:cNvSpPr>
            <a:spLocks noChangeArrowheads="1"/>
          </p:cNvSpPr>
          <p:nvPr/>
        </p:nvSpPr>
        <p:spPr bwMode="auto">
          <a:xfrm>
            <a:off x="5686426" y="5913439"/>
            <a:ext cx="22971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4275139" y="5913439"/>
            <a:ext cx="141128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</a:t>
            </a:r>
          </a:p>
        </p:txBody>
      </p:sp>
      <p:sp>
        <p:nvSpPr>
          <p:cNvPr id="258053" name="Rectangle 5"/>
          <p:cNvSpPr>
            <a:spLocks noChangeArrowheads="1"/>
          </p:cNvSpPr>
          <p:nvPr/>
        </p:nvSpPr>
        <p:spPr bwMode="auto">
          <a:xfrm>
            <a:off x="2495550" y="5913439"/>
            <a:ext cx="17795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</a:t>
            </a:r>
          </a:p>
        </p:txBody>
      </p:sp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5686426" y="5518150"/>
            <a:ext cx="22971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Reduce S </a:t>
            </a: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=&gt; a A B e</a:t>
            </a:r>
            <a:endParaRPr 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8055" name="Rectangle 7"/>
          <p:cNvSpPr>
            <a:spLocks noChangeArrowheads="1"/>
          </p:cNvSpPr>
          <p:nvPr/>
        </p:nvSpPr>
        <p:spPr bwMode="auto">
          <a:xfrm>
            <a:off x="4275139" y="5518150"/>
            <a:ext cx="14112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</a:t>
            </a:r>
          </a:p>
        </p:txBody>
      </p:sp>
      <p:sp>
        <p:nvSpPr>
          <p:cNvPr id="258056" name="Rectangle 8"/>
          <p:cNvSpPr>
            <a:spLocks noChangeArrowheads="1"/>
          </p:cNvSpPr>
          <p:nvPr/>
        </p:nvSpPr>
        <p:spPr bwMode="auto">
          <a:xfrm>
            <a:off x="2495550" y="5518150"/>
            <a:ext cx="177958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 B e</a:t>
            </a:r>
          </a:p>
        </p:txBody>
      </p:sp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5686426" y="5122864"/>
            <a:ext cx="22971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Shift</a:t>
            </a:r>
          </a:p>
        </p:txBody>
      </p:sp>
      <p:sp>
        <p:nvSpPr>
          <p:cNvPr id="258058" name="Rectangle 10"/>
          <p:cNvSpPr>
            <a:spLocks noChangeArrowheads="1"/>
          </p:cNvSpPr>
          <p:nvPr/>
        </p:nvSpPr>
        <p:spPr bwMode="auto">
          <a:xfrm>
            <a:off x="4275139" y="5122864"/>
            <a:ext cx="141128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e $</a:t>
            </a:r>
          </a:p>
        </p:txBody>
      </p:sp>
      <p:sp>
        <p:nvSpPr>
          <p:cNvPr id="258059" name="Rectangle 11"/>
          <p:cNvSpPr>
            <a:spLocks noChangeArrowheads="1"/>
          </p:cNvSpPr>
          <p:nvPr/>
        </p:nvSpPr>
        <p:spPr bwMode="auto">
          <a:xfrm>
            <a:off x="2495550" y="5122864"/>
            <a:ext cx="17795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 B</a:t>
            </a:r>
          </a:p>
        </p:txBody>
      </p:sp>
      <p:sp>
        <p:nvSpPr>
          <p:cNvPr id="258060" name="Rectangle 12"/>
          <p:cNvSpPr>
            <a:spLocks noChangeArrowheads="1"/>
          </p:cNvSpPr>
          <p:nvPr/>
        </p:nvSpPr>
        <p:spPr bwMode="auto">
          <a:xfrm>
            <a:off x="5686426" y="4727575"/>
            <a:ext cx="22971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Reduce B </a:t>
            </a: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=&gt; d</a:t>
            </a:r>
            <a:endParaRPr 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8061" name="Rectangle 13"/>
          <p:cNvSpPr>
            <a:spLocks noChangeArrowheads="1"/>
          </p:cNvSpPr>
          <p:nvPr/>
        </p:nvSpPr>
        <p:spPr bwMode="auto">
          <a:xfrm>
            <a:off x="4275139" y="4727575"/>
            <a:ext cx="14112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e $</a:t>
            </a:r>
          </a:p>
        </p:txBody>
      </p:sp>
      <p:sp>
        <p:nvSpPr>
          <p:cNvPr id="258062" name="Rectangle 14"/>
          <p:cNvSpPr>
            <a:spLocks noChangeArrowheads="1"/>
          </p:cNvSpPr>
          <p:nvPr/>
        </p:nvSpPr>
        <p:spPr bwMode="auto">
          <a:xfrm>
            <a:off x="2495550" y="4727575"/>
            <a:ext cx="177958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 d</a:t>
            </a:r>
          </a:p>
        </p:txBody>
      </p:sp>
      <p:sp>
        <p:nvSpPr>
          <p:cNvPr id="258063" name="Rectangle 15"/>
          <p:cNvSpPr>
            <a:spLocks noChangeArrowheads="1"/>
          </p:cNvSpPr>
          <p:nvPr/>
        </p:nvSpPr>
        <p:spPr bwMode="auto">
          <a:xfrm>
            <a:off x="5686426" y="4332289"/>
            <a:ext cx="22971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Shift</a:t>
            </a:r>
          </a:p>
        </p:txBody>
      </p:sp>
      <p:sp>
        <p:nvSpPr>
          <p:cNvPr id="258064" name="Rectangle 16"/>
          <p:cNvSpPr>
            <a:spLocks noChangeArrowheads="1"/>
          </p:cNvSpPr>
          <p:nvPr/>
        </p:nvSpPr>
        <p:spPr bwMode="auto">
          <a:xfrm>
            <a:off x="4275139" y="4332289"/>
            <a:ext cx="141128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d e $</a:t>
            </a:r>
          </a:p>
        </p:txBody>
      </p:sp>
      <p:sp>
        <p:nvSpPr>
          <p:cNvPr id="258065" name="Rectangle 17"/>
          <p:cNvSpPr>
            <a:spLocks noChangeArrowheads="1"/>
          </p:cNvSpPr>
          <p:nvPr/>
        </p:nvSpPr>
        <p:spPr bwMode="auto">
          <a:xfrm>
            <a:off x="2495550" y="4332289"/>
            <a:ext cx="17795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</a:t>
            </a:r>
          </a:p>
        </p:txBody>
      </p:sp>
      <p:sp>
        <p:nvSpPr>
          <p:cNvPr id="258066" name="Rectangle 18"/>
          <p:cNvSpPr>
            <a:spLocks noChangeArrowheads="1"/>
          </p:cNvSpPr>
          <p:nvPr/>
        </p:nvSpPr>
        <p:spPr bwMode="auto">
          <a:xfrm>
            <a:off x="5686426" y="3937000"/>
            <a:ext cx="22971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Reduce A </a:t>
            </a: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=&gt; A b c</a:t>
            </a:r>
            <a:endParaRPr 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8067" name="Rectangle 19"/>
          <p:cNvSpPr>
            <a:spLocks noChangeArrowheads="1"/>
          </p:cNvSpPr>
          <p:nvPr/>
        </p:nvSpPr>
        <p:spPr bwMode="auto">
          <a:xfrm>
            <a:off x="4275139" y="3937000"/>
            <a:ext cx="14112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d e $</a:t>
            </a:r>
          </a:p>
        </p:txBody>
      </p:sp>
      <p:sp>
        <p:nvSpPr>
          <p:cNvPr id="258068" name="Rectangle 20"/>
          <p:cNvSpPr>
            <a:spLocks noChangeArrowheads="1"/>
          </p:cNvSpPr>
          <p:nvPr/>
        </p:nvSpPr>
        <p:spPr bwMode="auto">
          <a:xfrm>
            <a:off x="2495550" y="3937000"/>
            <a:ext cx="177958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 b c</a:t>
            </a:r>
          </a:p>
        </p:txBody>
      </p:sp>
      <p:sp>
        <p:nvSpPr>
          <p:cNvPr id="258069" name="Rectangle 21"/>
          <p:cNvSpPr>
            <a:spLocks noChangeArrowheads="1"/>
          </p:cNvSpPr>
          <p:nvPr/>
        </p:nvSpPr>
        <p:spPr bwMode="auto">
          <a:xfrm>
            <a:off x="5686426" y="3541714"/>
            <a:ext cx="22971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Shift</a:t>
            </a:r>
          </a:p>
        </p:txBody>
      </p:sp>
      <p:sp>
        <p:nvSpPr>
          <p:cNvPr id="258070" name="Rectangle 22"/>
          <p:cNvSpPr>
            <a:spLocks noChangeArrowheads="1"/>
          </p:cNvSpPr>
          <p:nvPr/>
        </p:nvSpPr>
        <p:spPr bwMode="auto">
          <a:xfrm>
            <a:off x="4275139" y="3541714"/>
            <a:ext cx="141128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c d e $</a:t>
            </a:r>
          </a:p>
        </p:txBody>
      </p:sp>
      <p:sp>
        <p:nvSpPr>
          <p:cNvPr id="258071" name="Rectangle 23"/>
          <p:cNvSpPr>
            <a:spLocks noChangeArrowheads="1"/>
          </p:cNvSpPr>
          <p:nvPr/>
        </p:nvSpPr>
        <p:spPr bwMode="auto">
          <a:xfrm>
            <a:off x="2495550" y="3541714"/>
            <a:ext cx="17795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 b</a:t>
            </a:r>
          </a:p>
        </p:txBody>
      </p:sp>
      <p:sp>
        <p:nvSpPr>
          <p:cNvPr id="258072" name="Rectangle 24"/>
          <p:cNvSpPr>
            <a:spLocks noChangeArrowheads="1"/>
          </p:cNvSpPr>
          <p:nvPr/>
        </p:nvSpPr>
        <p:spPr bwMode="auto">
          <a:xfrm>
            <a:off x="5686426" y="3146425"/>
            <a:ext cx="22971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Shift</a:t>
            </a:r>
          </a:p>
        </p:txBody>
      </p:sp>
      <p:sp>
        <p:nvSpPr>
          <p:cNvPr id="258073" name="Rectangle 25"/>
          <p:cNvSpPr>
            <a:spLocks noChangeArrowheads="1"/>
          </p:cNvSpPr>
          <p:nvPr/>
        </p:nvSpPr>
        <p:spPr bwMode="auto">
          <a:xfrm>
            <a:off x="4275139" y="3146425"/>
            <a:ext cx="14112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b c d e $</a:t>
            </a:r>
          </a:p>
        </p:txBody>
      </p:sp>
      <p:sp>
        <p:nvSpPr>
          <p:cNvPr id="258074" name="Rectangle 26"/>
          <p:cNvSpPr>
            <a:spLocks noChangeArrowheads="1"/>
          </p:cNvSpPr>
          <p:nvPr/>
        </p:nvSpPr>
        <p:spPr bwMode="auto">
          <a:xfrm>
            <a:off x="2495550" y="3146425"/>
            <a:ext cx="177958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A</a:t>
            </a:r>
          </a:p>
        </p:txBody>
      </p:sp>
      <p:sp>
        <p:nvSpPr>
          <p:cNvPr id="258075" name="Rectangle 27"/>
          <p:cNvSpPr>
            <a:spLocks noChangeArrowheads="1"/>
          </p:cNvSpPr>
          <p:nvPr/>
        </p:nvSpPr>
        <p:spPr bwMode="auto">
          <a:xfrm>
            <a:off x="5686426" y="2751139"/>
            <a:ext cx="22971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Reduce A </a:t>
            </a: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=&gt; b</a:t>
            </a:r>
            <a:endParaRPr 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8076" name="Rectangle 28"/>
          <p:cNvSpPr>
            <a:spLocks noChangeArrowheads="1"/>
          </p:cNvSpPr>
          <p:nvPr/>
        </p:nvSpPr>
        <p:spPr bwMode="auto">
          <a:xfrm>
            <a:off x="4275139" y="2751139"/>
            <a:ext cx="141128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c d e $</a:t>
            </a:r>
          </a:p>
        </p:txBody>
      </p:sp>
      <p:sp>
        <p:nvSpPr>
          <p:cNvPr id="258077" name="Rectangle 29"/>
          <p:cNvSpPr>
            <a:spLocks noChangeArrowheads="1"/>
          </p:cNvSpPr>
          <p:nvPr/>
        </p:nvSpPr>
        <p:spPr bwMode="auto">
          <a:xfrm>
            <a:off x="2495550" y="2751139"/>
            <a:ext cx="17795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 b</a:t>
            </a:r>
          </a:p>
        </p:txBody>
      </p:sp>
      <p:sp>
        <p:nvSpPr>
          <p:cNvPr id="258078" name="Rectangle 30"/>
          <p:cNvSpPr>
            <a:spLocks noChangeArrowheads="1"/>
          </p:cNvSpPr>
          <p:nvPr/>
        </p:nvSpPr>
        <p:spPr bwMode="auto">
          <a:xfrm>
            <a:off x="5686426" y="2355850"/>
            <a:ext cx="22971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Shift</a:t>
            </a:r>
          </a:p>
        </p:txBody>
      </p:sp>
      <p:sp>
        <p:nvSpPr>
          <p:cNvPr id="258079" name="Rectangle 31"/>
          <p:cNvSpPr>
            <a:spLocks noChangeArrowheads="1"/>
          </p:cNvSpPr>
          <p:nvPr/>
        </p:nvSpPr>
        <p:spPr bwMode="auto">
          <a:xfrm>
            <a:off x="4275139" y="2355850"/>
            <a:ext cx="141128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c d e $</a:t>
            </a:r>
          </a:p>
        </p:txBody>
      </p:sp>
      <p:sp>
        <p:nvSpPr>
          <p:cNvPr id="258080" name="Rectangle 32"/>
          <p:cNvSpPr>
            <a:spLocks noChangeArrowheads="1"/>
          </p:cNvSpPr>
          <p:nvPr/>
        </p:nvSpPr>
        <p:spPr bwMode="auto">
          <a:xfrm>
            <a:off x="2495550" y="2355850"/>
            <a:ext cx="177958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 a</a:t>
            </a:r>
          </a:p>
        </p:txBody>
      </p:sp>
      <p:sp>
        <p:nvSpPr>
          <p:cNvPr id="258081" name="Rectangle 33"/>
          <p:cNvSpPr>
            <a:spLocks noChangeArrowheads="1"/>
          </p:cNvSpPr>
          <p:nvPr/>
        </p:nvSpPr>
        <p:spPr bwMode="auto">
          <a:xfrm>
            <a:off x="5686426" y="1960564"/>
            <a:ext cx="22971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Shift</a:t>
            </a:r>
          </a:p>
        </p:txBody>
      </p:sp>
      <p:sp>
        <p:nvSpPr>
          <p:cNvPr id="258082" name="Rectangle 34"/>
          <p:cNvSpPr>
            <a:spLocks noChangeArrowheads="1"/>
          </p:cNvSpPr>
          <p:nvPr/>
        </p:nvSpPr>
        <p:spPr bwMode="auto">
          <a:xfrm>
            <a:off x="4275139" y="1960564"/>
            <a:ext cx="1411287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b 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c d e $</a:t>
            </a:r>
          </a:p>
        </p:txBody>
      </p:sp>
      <p:sp>
        <p:nvSpPr>
          <p:cNvPr id="258083" name="Rectangle 35"/>
          <p:cNvSpPr>
            <a:spLocks noChangeArrowheads="1"/>
          </p:cNvSpPr>
          <p:nvPr/>
        </p:nvSpPr>
        <p:spPr bwMode="auto">
          <a:xfrm>
            <a:off x="2495550" y="1960564"/>
            <a:ext cx="17795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$</a:t>
            </a:r>
          </a:p>
        </p:txBody>
      </p:sp>
      <p:sp>
        <p:nvSpPr>
          <p:cNvPr id="258084" name="Rectangle 36"/>
          <p:cNvSpPr>
            <a:spLocks noChangeArrowheads="1"/>
          </p:cNvSpPr>
          <p:nvPr/>
        </p:nvSpPr>
        <p:spPr bwMode="auto">
          <a:xfrm>
            <a:off x="5686426" y="1443039"/>
            <a:ext cx="229711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Action</a:t>
            </a:r>
          </a:p>
        </p:txBody>
      </p:sp>
      <p:sp>
        <p:nvSpPr>
          <p:cNvPr id="258085" name="Rectangle 37"/>
          <p:cNvSpPr>
            <a:spLocks noChangeArrowheads="1"/>
          </p:cNvSpPr>
          <p:nvPr/>
        </p:nvSpPr>
        <p:spPr bwMode="auto">
          <a:xfrm>
            <a:off x="4275139" y="1443039"/>
            <a:ext cx="1411287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Input</a:t>
            </a:r>
          </a:p>
        </p:txBody>
      </p:sp>
      <p:sp>
        <p:nvSpPr>
          <p:cNvPr id="258086" name="Rectangle 38"/>
          <p:cNvSpPr>
            <a:spLocks noChangeArrowheads="1"/>
          </p:cNvSpPr>
          <p:nvPr/>
        </p:nvSpPr>
        <p:spPr bwMode="auto">
          <a:xfrm>
            <a:off x="2495550" y="1443039"/>
            <a:ext cx="177958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800" b="1">
                <a:effectLst>
                  <a:outerShdw blurRad="38100" dist="38100" dir="2700000" algn="tl">
                    <a:srgbClr val="000000"/>
                  </a:outerShdw>
                </a:effectLst>
              </a:rPr>
              <a:t>Stack</a:t>
            </a:r>
          </a:p>
        </p:txBody>
      </p:sp>
      <p:sp>
        <p:nvSpPr>
          <p:cNvPr id="128039" name="Line 39"/>
          <p:cNvSpPr>
            <a:spLocks noChangeShapeType="1"/>
          </p:cNvSpPr>
          <p:nvPr/>
        </p:nvSpPr>
        <p:spPr bwMode="auto">
          <a:xfrm>
            <a:off x="2495550" y="1443038"/>
            <a:ext cx="1779588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0" name="Line 40"/>
          <p:cNvSpPr>
            <a:spLocks noChangeShapeType="1"/>
          </p:cNvSpPr>
          <p:nvPr/>
        </p:nvSpPr>
        <p:spPr bwMode="auto">
          <a:xfrm>
            <a:off x="2495550" y="1960563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1" name="Line 41"/>
          <p:cNvSpPr>
            <a:spLocks noChangeShapeType="1"/>
          </p:cNvSpPr>
          <p:nvPr/>
        </p:nvSpPr>
        <p:spPr bwMode="auto">
          <a:xfrm>
            <a:off x="2495550" y="2355850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2" name="Line 42"/>
          <p:cNvSpPr>
            <a:spLocks noChangeShapeType="1"/>
          </p:cNvSpPr>
          <p:nvPr/>
        </p:nvSpPr>
        <p:spPr bwMode="auto">
          <a:xfrm>
            <a:off x="2495550" y="2751138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3" name="Line 43"/>
          <p:cNvSpPr>
            <a:spLocks noChangeShapeType="1"/>
          </p:cNvSpPr>
          <p:nvPr/>
        </p:nvSpPr>
        <p:spPr bwMode="auto">
          <a:xfrm>
            <a:off x="2495550" y="3146425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4" name="Line 44"/>
          <p:cNvSpPr>
            <a:spLocks noChangeShapeType="1"/>
          </p:cNvSpPr>
          <p:nvPr/>
        </p:nvSpPr>
        <p:spPr bwMode="auto">
          <a:xfrm>
            <a:off x="2495550" y="3541713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5" name="Line 45"/>
          <p:cNvSpPr>
            <a:spLocks noChangeShapeType="1"/>
          </p:cNvSpPr>
          <p:nvPr/>
        </p:nvSpPr>
        <p:spPr bwMode="auto">
          <a:xfrm>
            <a:off x="2495550" y="3937000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6" name="Line 46"/>
          <p:cNvSpPr>
            <a:spLocks noChangeShapeType="1"/>
          </p:cNvSpPr>
          <p:nvPr/>
        </p:nvSpPr>
        <p:spPr bwMode="auto">
          <a:xfrm>
            <a:off x="2495550" y="4332288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7" name="Line 47"/>
          <p:cNvSpPr>
            <a:spLocks noChangeShapeType="1"/>
          </p:cNvSpPr>
          <p:nvPr/>
        </p:nvSpPr>
        <p:spPr bwMode="auto">
          <a:xfrm>
            <a:off x="2495550" y="4727575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8" name="Line 48"/>
          <p:cNvSpPr>
            <a:spLocks noChangeShapeType="1"/>
          </p:cNvSpPr>
          <p:nvPr/>
        </p:nvSpPr>
        <p:spPr bwMode="auto">
          <a:xfrm>
            <a:off x="2495550" y="5122863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49" name="Line 49"/>
          <p:cNvSpPr>
            <a:spLocks noChangeShapeType="1"/>
          </p:cNvSpPr>
          <p:nvPr/>
        </p:nvSpPr>
        <p:spPr bwMode="auto">
          <a:xfrm>
            <a:off x="2495550" y="5518150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0" name="Line 50"/>
          <p:cNvSpPr>
            <a:spLocks noChangeShapeType="1"/>
          </p:cNvSpPr>
          <p:nvPr/>
        </p:nvSpPr>
        <p:spPr bwMode="auto">
          <a:xfrm>
            <a:off x="2495550" y="5913438"/>
            <a:ext cx="5487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1" name="Line 51"/>
          <p:cNvSpPr>
            <a:spLocks noChangeShapeType="1"/>
          </p:cNvSpPr>
          <p:nvPr/>
        </p:nvSpPr>
        <p:spPr bwMode="auto">
          <a:xfrm>
            <a:off x="2495550" y="6308725"/>
            <a:ext cx="1779588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2" name="Line 52"/>
          <p:cNvSpPr>
            <a:spLocks noChangeShapeType="1"/>
          </p:cNvSpPr>
          <p:nvPr/>
        </p:nvSpPr>
        <p:spPr bwMode="auto">
          <a:xfrm>
            <a:off x="2495550" y="1443039"/>
            <a:ext cx="0" cy="517525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3" name="Line 53"/>
          <p:cNvSpPr>
            <a:spLocks noChangeShapeType="1"/>
          </p:cNvSpPr>
          <p:nvPr/>
        </p:nvSpPr>
        <p:spPr bwMode="auto">
          <a:xfrm>
            <a:off x="4275138" y="1443039"/>
            <a:ext cx="0" cy="4865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4" name="Line 54"/>
          <p:cNvSpPr>
            <a:spLocks noChangeShapeType="1"/>
          </p:cNvSpPr>
          <p:nvPr/>
        </p:nvSpPr>
        <p:spPr bwMode="auto">
          <a:xfrm>
            <a:off x="5686425" y="1443039"/>
            <a:ext cx="0" cy="4865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5" name="Line 55"/>
          <p:cNvSpPr>
            <a:spLocks noChangeShapeType="1"/>
          </p:cNvSpPr>
          <p:nvPr/>
        </p:nvSpPr>
        <p:spPr bwMode="auto">
          <a:xfrm>
            <a:off x="7983538" y="1443039"/>
            <a:ext cx="0" cy="517525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6" name="Line 56"/>
          <p:cNvSpPr>
            <a:spLocks noChangeShapeType="1"/>
          </p:cNvSpPr>
          <p:nvPr/>
        </p:nvSpPr>
        <p:spPr bwMode="auto">
          <a:xfrm>
            <a:off x="4275139" y="1443038"/>
            <a:ext cx="1411287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7" name="Line 57"/>
          <p:cNvSpPr>
            <a:spLocks noChangeShapeType="1"/>
          </p:cNvSpPr>
          <p:nvPr/>
        </p:nvSpPr>
        <p:spPr bwMode="auto">
          <a:xfrm>
            <a:off x="2495550" y="1960564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8" name="Line 58"/>
          <p:cNvSpPr>
            <a:spLocks noChangeShapeType="1"/>
          </p:cNvSpPr>
          <p:nvPr/>
        </p:nvSpPr>
        <p:spPr bwMode="auto">
          <a:xfrm>
            <a:off x="5686426" y="1443038"/>
            <a:ext cx="2297113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59" name="Line 59"/>
          <p:cNvSpPr>
            <a:spLocks noChangeShapeType="1"/>
          </p:cNvSpPr>
          <p:nvPr/>
        </p:nvSpPr>
        <p:spPr bwMode="auto">
          <a:xfrm>
            <a:off x="7983538" y="1960564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0" name="Line 60"/>
          <p:cNvSpPr>
            <a:spLocks noChangeShapeType="1"/>
          </p:cNvSpPr>
          <p:nvPr/>
        </p:nvSpPr>
        <p:spPr bwMode="auto">
          <a:xfrm>
            <a:off x="2495550" y="2355850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1" name="Line 61"/>
          <p:cNvSpPr>
            <a:spLocks noChangeShapeType="1"/>
          </p:cNvSpPr>
          <p:nvPr/>
        </p:nvSpPr>
        <p:spPr bwMode="auto">
          <a:xfrm>
            <a:off x="7983538" y="2355850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2" name="Line 62"/>
          <p:cNvSpPr>
            <a:spLocks noChangeShapeType="1"/>
          </p:cNvSpPr>
          <p:nvPr/>
        </p:nvSpPr>
        <p:spPr bwMode="auto">
          <a:xfrm>
            <a:off x="2495550" y="2751139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3" name="Line 63"/>
          <p:cNvSpPr>
            <a:spLocks noChangeShapeType="1"/>
          </p:cNvSpPr>
          <p:nvPr/>
        </p:nvSpPr>
        <p:spPr bwMode="auto">
          <a:xfrm>
            <a:off x="7983538" y="2751139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4" name="Line 64"/>
          <p:cNvSpPr>
            <a:spLocks noChangeShapeType="1"/>
          </p:cNvSpPr>
          <p:nvPr/>
        </p:nvSpPr>
        <p:spPr bwMode="auto">
          <a:xfrm>
            <a:off x="2495550" y="3146425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5" name="Line 65"/>
          <p:cNvSpPr>
            <a:spLocks noChangeShapeType="1"/>
          </p:cNvSpPr>
          <p:nvPr/>
        </p:nvSpPr>
        <p:spPr bwMode="auto">
          <a:xfrm>
            <a:off x="7983538" y="3146425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6" name="Line 66"/>
          <p:cNvSpPr>
            <a:spLocks noChangeShapeType="1"/>
          </p:cNvSpPr>
          <p:nvPr/>
        </p:nvSpPr>
        <p:spPr bwMode="auto">
          <a:xfrm>
            <a:off x="2495550" y="3541714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7" name="Line 67"/>
          <p:cNvSpPr>
            <a:spLocks noChangeShapeType="1"/>
          </p:cNvSpPr>
          <p:nvPr/>
        </p:nvSpPr>
        <p:spPr bwMode="auto">
          <a:xfrm>
            <a:off x="7983538" y="3541714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8" name="Line 68"/>
          <p:cNvSpPr>
            <a:spLocks noChangeShapeType="1"/>
          </p:cNvSpPr>
          <p:nvPr/>
        </p:nvSpPr>
        <p:spPr bwMode="auto">
          <a:xfrm>
            <a:off x="2495550" y="3937000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69" name="Line 69"/>
          <p:cNvSpPr>
            <a:spLocks noChangeShapeType="1"/>
          </p:cNvSpPr>
          <p:nvPr/>
        </p:nvSpPr>
        <p:spPr bwMode="auto">
          <a:xfrm>
            <a:off x="7983538" y="3937000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0" name="Line 70"/>
          <p:cNvSpPr>
            <a:spLocks noChangeShapeType="1"/>
          </p:cNvSpPr>
          <p:nvPr/>
        </p:nvSpPr>
        <p:spPr bwMode="auto">
          <a:xfrm>
            <a:off x="2495550" y="4332289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1" name="Line 71"/>
          <p:cNvSpPr>
            <a:spLocks noChangeShapeType="1"/>
          </p:cNvSpPr>
          <p:nvPr/>
        </p:nvSpPr>
        <p:spPr bwMode="auto">
          <a:xfrm>
            <a:off x="7983538" y="4332289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2" name="Line 72"/>
          <p:cNvSpPr>
            <a:spLocks noChangeShapeType="1"/>
          </p:cNvSpPr>
          <p:nvPr/>
        </p:nvSpPr>
        <p:spPr bwMode="auto">
          <a:xfrm>
            <a:off x="2495550" y="4727575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3" name="Line 73"/>
          <p:cNvSpPr>
            <a:spLocks noChangeShapeType="1"/>
          </p:cNvSpPr>
          <p:nvPr/>
        </p:nvSpPr>
        <p:spPr bwMode="auto">
          <a:xfrm>
            <a:off x="7983538" y="4727575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4" name="Line 74"/>
          <p:cNvSpPr>
            <a:spLocks noChangeShapeType="1"/>
          </p:cNvSpPr>
          <p:nvPr/>
        </p:nvSpPr>
        <p:spPr bwMode="auto">
          <a:xfrm>
            <a:off x="2495550" y="5122864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5" name="Line 75"/>
          <p:cNvSpPr>
            <a:spLocks noChangeShapeType="1"/>
          </p:cNvSpPr>
          <p:nvPr/>
        </p:nvSpPr>
        <p:spPr bwMode="auto">
          <a:xfrm>
            <a:off x="7983538" y="5122864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6" name="Line 76"/>
          <p:cNvSpPr>
            <a:spLocks noChangeShapeType="1"/>
          </p:cNvSpPr>
          <p:nvPr/>
        </p:nvSpPr>
        <p:spPr bwMode="auto">
          <a:xfrm>
            <a:off x="2495550" y="5518150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7" name="Line 77"/>
          <p:cNvSpPr>
            <a:spLocks noChangeShapeType="1"/>
          </p:cNvSpPr>
          <p:nvPr/>
        </p:nvSpPr>
        <p:spPr bwMode="auto">
          <a:xfrm>
            <a:off x="7983538" y="5518150"/>
            <a:ext cx="0" cy="395288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8" name="Line 78"/>
          <p:cNvSpPr>
            <a:spLocks noChangeShapeType="1"/>
          </p:cNvSpPr>
          <p:nvPr/>
        </p:nvSpPr>
        <p:spPr bwMode="auto">
          <a:xfrm>
            <a:off x="2495550" y="5913439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79" name="Line 79"/>
          <p:cNvSpPr>
            <a:spLocks noChangeShapeType="1"/>
          </p:cNvSpPr>
          <p:nvPr/>
        </p:nvSpPr>
        <p:spPr bwMode="auto">
          <a:xfrm>
            <a:off x="7983538" y="5913439"/>
            <a:ext cx="0" cy="395287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80" name="Line 80"/>
          <p:cNvSpPr>
            <a:spLocks noChangeShapeType="1"/>
          </p:cNvSpPr>
          <p:nvPr/>
        </p:nvSpPr>
        <p:spPr bwMode="auto">
          <a:xfrm>
            <a:off x="4275139" y="6308725"/>
            <a:ext cx="1411287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81" name="Line 81"/>
          <p:cNvSpPr>
            <a:spLocks noChangeShapeType="1"/>
          </p:cNvSpPr>
          <p:nvPr/>
        </p:nvSpPr>
        <p:spPr bwMode="auto">
          <a:xfrm>
            <a:off x="5686426" y="6308725"/>
            <a:ext cx="2297113" cy="0"/>
          </a:xfrm>
          <a:prstGeom prst="line">
            <a:avLst/>
          </a:prstGeom>
          <a:noFill/>
          <a:ln w="28575" cap="sq">
            <a:noFill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8082" name="Rectangle 86"/>
          <p:cNvSpPr>
            <a:spLocks noChangeArrowheads="1"/>
          </p:cNvSpPr>
          <p:nvPr/>
        </p:nvSpPr>
        <p:spPr bwMode="auto">
          <a:xfrm>
            <a:off x="7696200" y="1371601"/>
            <a:ext cx="2971800" cy="1223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dirty="0"/>
              <a:t>    S </a:t>
            </a:r>
            <a:r>
              <a:rPr lang="en-US" dirty="0">
                <a:sym typeface="Wingdings" pitchFamily="2" charset="2"/>
              </a:rPr>
              <a:t>=&gt; a </a:t>
            </a:r>
            <a:r>
              <a:rPr lang="en-US" dirty="0" err="1"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 B 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dirty="0"/>
              <a:t>    A </a:t>
            </a:r>
            <a:r>
              <a:rPr lang="en-US" dirty="0">
                <a:sym typeface="Wingdings" pitchFamily="2" charset="2"/>
              </a:rPr>
              <a:t>=&gt; A b c | 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dirty="0">
                <a:sym typeface="Wingdings" pitchFamily="2" charset="2"/>
              </a:rPr>
              <a:t>    B =&gt; d</a:t>
            </a:r>
          </a:p>
        </p:txBody>
      </p:sp>
    </p:spTree>
    <p:extLst>
      <p:ext uri="{BB962C8B-B14F-4D97-AF65-F5344CB8AC3E}">
        <p14:creationId xmlns:p14="http://schemas.microsoft.com/office/powerpoint/2010/main" val="73481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72" y="627317"/>
            <a:ext cx="6142501" cy="5181334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877" y="979008"/>
            <a:ext cx="2184000" cy="1604667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877" y="627317"/>
            <a:ext cx="897000" cy="25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0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3071</Words>
  <Application>Microsoft Office PowerPoint</Application>
  <PresentationFormat>Geniş ekran</PresentationFormat>
  <Paragraphs>483</Paragraphs>
  <Slides>45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45</vt:i4>
      </vt:variant>
    </vt:vector>
  </HeadingPairs>
  <TitlesOfParts>
    <vt:vector size="58" baseType="lpstr">
      <vt:lpstr>Arial</vt:lpstr>
      <vt:lpstr>Calibri</vt:lpstr>
      <vt:lpstr>Calibri Light</vt:lpstr>
      <vt:lpstr>Century Gothic</vt:lpstr>
      <vt:lpstr>cmsy10</vt:lpstr>
      <vt:lpstr>Cordia New</vt:lpstr>
      <vt:lpstr>Courier New</vt:lpstr>
      <vt:lpstr>Monotype Sorts</vt:lpstr>
      <vt:lpstr>msam10</vt:lpstr>
      <vt:lpstr>Symbol</vt:lpstr>
      <vt:lpstr>VL PGothic</vt:lpstr>
      <vt:lpstr>Wingdings</vt:lpstr>
      <vt:lpstr>Office Teması</vt:lpstr>
      <vt:lpstr>PowerPoint Sunusu</vt:lpstr>
      <vt:lpstr>Giriş</vt:lpstr>
      <vt:lpstr>Giriş (Devamı)</vt:lpstr>
      <vt:lpstr>Giriş (Devamı)</vt:lpstr>
      <vt:lpstr>PowerPoint Sunusu</vt:lpstr>
      <vt:lpstr>PowerPoint Sunusu</vt:lpstr>
      <vt:lpstr>Giriş (Devamı)</vt:lpstr>
      <vt:lpstr>Sözcüksel (Lexical) Analiz</vt:lpstr>
      <vt:lpstr>4.2 Sözcüksel (Lexical) Analiz (Devamı)</vt:lpstr>
      <vt:lpstr>Sözcüksel (Lexical) Analiz (Devamı)</vt:lpstr>
      <vt:lpstr>Sözcüksel (Lexical) Analiz (Devamı)</vt:lpstr>
      <vt:lpstr>Regular Expressions</vt:lpstr>
      <vt:lpstr>Regüler İfadeler</vt:lpstr>
      <vt:lpstr>PowerPoint Sunusu</vt:lpstr>
      <vt:lpstr>PowerPoint Sunusu</vt:lpstr>
      <vt:lpstr>Durum diyagramı</vt:lpstr>
      <vt:lpstr>Sözcüksel (Lexical) Analiz (Devamı)</vt:lpstr>
      <vt:lpstr>Durum Diyagramı (State Diagram)</vt:lpstr>
      <vt:lpstr>4.2 Sözcüksel (Lexical) Analiz (Devamı)</vt:lpstr>
      <vt:lpstr>4.2 Sözcüksel (Lexical) Analiz (Devamı)</vt:lpstr>
      <vt:lpstr>Sözcüksel (Lexical) Analiz</vt:lpstr>
      <vt:lpstr>Ayrıştırma (Parsing) Problemi</vt:lpstr>
      <vt:lpstr>Ayrıştırma (Parsing) Problemi     (Devamı)</vt:lpstr>
      <vt:lpstr>Ayrıştırma (Parsing) Problemi     (Devamı)</vt:lpstr>
      <vt:lpstr>Özyineli-azalan Ayrıştırma  (Recursive-Descent Parsing)</vt:lpstr>
      <vt:lpstr>Özyineli-azalan Ayrıştırma (Recursive-Descent Parsing) (Devamı)</vt:lpstr>
      <vt:lpstr>Özyineli-azalan Ayrıştırma     (Recursive-Descent Parsing) (Devamı)</vt:lpstr>
      <vt:lpstr>Özyineli-azalan Ayrıştırma (Recursive-Descent Parsing)(Devamı)</vt:lpstr>
      <vt:lpstr>PowerPoint Sunusu</vt:lpstr>
      <vt:lpstr>PowerPoint Sunusu</vt:lpstr>
      <vt:lpstr>PowerPoint Sunusu</vt:lpstr>
      <vt:lpstr>Shift-Reduce Parsing</vt:lpstr>
      <vt:lpstr>Örnek : Shift-Reduce Ayrıştırma (1)</vt:lpstr>
      <vt:lpstr>Örnek: Shift-Reduce Ayrıştırma (2)</vt:lpstr>
      <vt:lpstr>Örnek: Shift-Reduce Ayrıştırma (3)</vt:lpstr>
      <vt:lpstr>Örnek: Shift-Reduce Ayrıştırma (4)</vt:lpstr>
      <vt:lpstr>Örnek: Shift-Reduce Ayrıştırma (5)</vt:lpstr>
      <vt:lpstr>Örnek: Shift-Reduce Ayrıştırma (6)</vt:lpstr>
      <vt:lpstr>Örnek: Shift-Reduce Ayrıştırma (7)</vt:lpstr>
      <vt:lpstr>Örnek: Shift-Reduce Ayrıştırma (8)</vt:lpstr>
      <vt:lpstr>Örnek: Shift-Reduce Ayrıştırma (9)</vt:lpstr>
      <vt:lpstr>Örnek: Shift-Reduce Ayrıştırma (10)</vt:lpstr>
      <vt:lpstr>Örnek: Shift-Reduce Ayrıştırma (11)</vt:lpstr>
      <vt:lpstr>Örnek 3: Shift-Reduce Ayrıştırma Örneği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murataydogan23@gmail.com</dc:creator>
  <cp:lastModifiedBy>murat</cp:lastModifiedBy>
  <cp:revision>13</cp:revision>
  <dcterms:created xsi:type="dcterms:W3CDTF">2021-12-06T08:30:28Z</dcterms:created>
  <dcterms:modified xsi:type="dcterms:W3CDTF">2024-11-20T07:52:16Z</dcterms:modified>
</cp:coreProperties>
</file>